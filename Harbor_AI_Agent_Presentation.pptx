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Harbor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/>
      </a:lvl1pPr>
    </p:titleStyle>
    <p:bodyStyle>
      <a:lvl1pPr marL="0" indent="0">
        <a:defRPr sz="1800"/>
      </a:lvl1pPr>
      <a:lvl2pPr marL="457200" indent="0">
        <a:defRPr sz="1600"/>
      </a:lvl2pPr>
    </p:bodyStyle>
    <p:otherStyle>
      <a:lvl1pPr>
        <a:defRPr sz="1800"/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Harbor AI Agent Presentation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 Panel 2"/>
          <p:cNvSpPr/>
          <p:nvPr/>
        </p:nvSpPr>
        <p:spPr>
          <a:xfrm>
            <a:off x="8001000" y="502920"/>
            <a:ext cx="3429000" cy="5440680"/>
          </a:xfrm>
          <a:prstGeom prst="roundRect">
            <a:avLst/>
          </a:prstGeom>
          <a:solidFill>
            <a:srgbClr val="16243B">
              <a:alpha val="70000"/>
            </a:srgbClr>
          </a:solidFill>
          <a:ln w="12700" cap="flat" cmpd="sng" algn="ctr">
            <a:solidFill>
              <a:srgbClr val="23405D"/>
            </a:solidFill>
            <a:prstDash val="solid"/>
          </a:ln>
        </p:spPr>
        <p:txBody>
          <a:bodyPr/>
          <a:lstStyle/>
          <a:p/>
        </p:txBody>
      </p:sp>
      <p:sp>
        <p:nvSpPr>
          <p:cNvPr id="3" name="Hero Bar 3"/>
          <p:cNvSpPr/>
          <p:nvPr/>
        </p:nvSpPr>
        <p:spPr>
          <a:xfrm>
            <a:off x="8275320" y="868680"/>
            <a:ext cx="2788920" cy="128016"/>
          </a:xfrm>
          <a:prstGeom prst="rect">
            <a:avLst/>
          </a:prstGeom>
          <a:solidFill>
            <a:srgbClr val="35D0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ro Box 4"/>
          <p:cNvSpPr/>
          <p:nvPr/>
        </p:nvSpPr>
        <p:spPr>
          <a:xfrm>
            <a:off x="8430768" y="1325880"/>
            <a:ext cx="2514600" cy="914400"/>
          </a:xfrm>
          <a:prstGeom prst="roundRect">
            <a:avLst/>
          </a:prstGeom>
          <a:solidFill>
            <a:srgbClr val="14B8A6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ro Box 5"/>
          <p:cNvSpPr/>
          <p:nvPr/>
        </p:nvSpPr>
        <p:spPr>
          <a:xfrm>
            <a:off x="8430768" y="2487168"/>
            <a:ext cx="2514600" cy="914400"/>
          </a:xfrm>
          <a:prstGeom prst="roundRect">
            <a:avLst/>
          </a:prstGeom>
          <a:solidFill>
            <a:srgbClr val="35D0FF">
              <a:alpha val="2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Hero Box 6"/>
          <p:cNvSpPr/>
          <p:nvPr/>
        </p:nvSpPr>
        <p:spPr>
          <a:xfrm>
            <a:off x="8430768" y="3648456"/>
            <a:ext cx="2514600" cy="914400"/>
          </a:xfrm>
          <a:prstGeom prst="roundRect">
            <a:avLst/>
          </a:prstGeom>
          <a:solidFill>
            <a:srgbClr val="F5B942">
              <a:alpha val="18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566928" y="658368"/>
            <a:ext cx="2331720" cy="320040"/>
          </a:xfrm>
          <a:prstGeom prst="roundRect">
            <a:avLst/>
          </a:prstGeom>
          <a:solidFill>
            <a:srgbClr val="16243B">
              <a:alpha val="85000"/>
            </a:srgbClr>
          </a:solidFill>
          <a:ln w="12700" cap="flat" cmpd="sng" algn="ctr">
            <a:solidFill>
              <a:srgbClr val="35D0FF"/>
            </a:solidFill>
            <a:prstDash val="solid"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980" b="1" dirty="0" smtClean="0">
                <a:solidFill>
                  <a:srgbClr val="35D0FF"/>
                </a:solidFill>
                <a:latin typeface="Aptos"/>
              </a:rPr>
              <a:t>AUTONOMOUS DEV PLATFORM</a:t>
            </a:r>
            <a:endParaRPr lang="en-US" sz="980"/>
          </a:p>
        </p:txBody>
      </p:sp>
      <p:sp>
        <p:nvSpPr>
          <p:cNvPr id="8" name="Main Title 8"/>
          <p:cNvSpPr txBox="1"/>
          <p:nvPr/>
        </p:nvSpPr>
        <p:spPr>
          <a:xfrm>
            <a:off x="566928" y="1325880"/>
            <a:ext cx="6309360" cy="102412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3200" b="1" dirty="0" smtClean="0">
                <a:solidFill>
                  <a:srgbClr val="F8FAFC"/>
                </a:solidFill>
                <a:latin typeface="Aptos"/>
              </a:rPr>
              <a:t>Harbor AI Agent</a:t>
            </a:r>
            <a:endParaRPr lang="en-US" sz="3200"/>
          </a:p>
          <a:p>
            <a:pPr algn="l"/>
            <a:r>
              <a:rPr lang="en-US" sz="2400" dirty="0" smtClean="0">
                <a:solidFill>
                  <a:srgbClr val="CBD5E1"/>
                </a:solidFill>
                <a:latin typeface="Aptos"/>
              </a:rPr>
              <a:t>Complete Project Documentation</a:t>
            </a:r>
            <a:endParaRPr lang="en-US" sz="2400"/>
          </a:p>
        </p:txBody>
      </p:sp>
      <p:sp>
        <p:nvSpPr>
          <p:cNvPr id="9" name="Main Sub 9"/>
          <p:cNvSpPr txBox="1"/>
          <p:nvPr/>
        </p:nvSpPr>
        <p:spPr>
          <a:xfrm>
            <a:off x="603504" y="2633472"/>
            <a:ext cx="6355080" cy="91440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320" dirty="0" smtClean="0">
                <a:solidFill>
                  <a:srgbClr val="CBD5E1"/>
                </a:solidFill>
                <a:latin typeface="Aptos"/>
              </a:rPr>
              <a:t>A polished overview of the Harbor autonomous software development agent, its workflow, integration model, and roadmap.</a:t>
            </a:r>
            <a:endParaRPr lang="en-US" sz="1320"/>
          </a:p>
        </p:txBody>
      </p:sp>
      <p:sp>
        <p:nvSpPr>
          <p:cNvPr id="10" name="Metric 10"/>
          <p:cNvSpPr/>
          <p:nvPr/>
        </p:nvSpPr>
        <p:spPr>
          <a:xfrm>
            <a:off x="621792" y="4983480"/>
            <a:ext cx="1901952" cy="786384"/>
          </a:xfrm>
          <a:prstGeom prst="roundRect">
            <a:avLst/>
          </a:prstGeom>
          <a:solidFill>
            <a:srgbClr val="111C30"/>
          </a:solidFill>
          <a:ln w="12700" cap="flat" cmpd="sng" algn="ctr">
            <a:solidFill>
              <a:srgbClr val="23405D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Metric Label 11"/>
          <p:cNvSpPr txBox="1"/>
          <p:nvPr/>
        </p:nvSpPr>
        <p:spPr>
          <a:xfrm>
            <a:off x="731520" y="5102352"/>
            <a:ext cx="1682496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900" b="1" dirty="0" smtClean="0">
                <a:solidFill>
                  <a:srgbClr val="35D0FF"/>
                </a:solidFill>
                <a:latin typeface="Aptos"/>
              </a:rPr>
              <a:t>Architecture</a:t>
            </a:r>
            <a:endParaRPr lang="en-US" sz="900"/>
          </a:p>
        </p:txBody>
      </p:sp>
      <p:sp>
        <p:nvSpPr>
          <p:cNvPr id="12" name="Metric Value 12"/>
          <p:cNvSpPr txBox="1"/>
          <p:nvPr/>
        </p:nvSpPr>
        <p:spPr>
          <a:xfrm>
            <a:off x="731520" y="5321808"/>
            <a:ext cx="1682496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120" dirty="0" smtClean="0">
                <a:solidFill>
                  <a:srgbClr val="F8FAFC"/>
                </a:solidFill>
                <a:latin typeface="Aptos"/>
              </a:rPr>
              <a:t>Microservices + orchestration</a:t>
            </a:r>
            <a:endParaRPr lang="en-US" sz="1120"/>
          </a:p>
        </p:txBody>
      </p:sp>
      <p:sp>
        <p:nvSpPr>
          <p:cNvPr id="13" name="Metric 13"/>
          <p:cNvSpPr/>
          <p:nvPr/>
        </p:nvSpPr>
        <p:spPr>
          <a:xfrm>
            <a:off x="2679192" y="4983480"/>
            <a:ext cx="1901952" cy="786384"/>
          </a:xfrm>
          <a:prstGeom prst="roundRect">
            <a:avLst/>
          </a:prstGeom>
          <a:solidFill>
            <a:srgbClr val="111C30"/>
          </a:solidFill>
          <a:ln w="12700" cap="flat" cmpd="sng" algn="ctr">
            <a:solidFill>
              <a:srgbClr val="23405D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Metric Label 14"/>
          <p:cNvSpPr txBox="1"/>
          <p:nvPr/>
        </p:nvSpPr>
        <p:spPr>
          <a:xfrm>
            <a:off x="2788920" y="5102352"/>
            <a:ext cx="1682496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900" b="1" dirty="0" smtClean="0">
                <a:solidFill>
                  <a:srgbClr val="35D0FF"/>
                </a:solidFill>
                <a:latin typeface="Aptos"/>
              </a:rPr>
              <a:t>Workflow</a:t>
            </a:r>
            <a:endParaRPr lang="en-US" sz="900"/>
          </a:p>
        </p:txBody>
      </p:sp>
      <p:sp>
        <p:nvSpPr>
          <p:cNvPr id="15" name="Metric Value 15"/>
          <p:cNvSpPr txBox="1"/>
          <p:nvPr/>
        </p:nvSpPr>
        <p:spPr>
          <a:xfrm>
            <a:off x="2788920" y="5321808"/>
            <a:ext cx="1682496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120" dirty="0" smtClean="0">
                <a:solidFill>
                  <a:srgbClr val="F8FAFC"/>
                </a:solidFill>
                <a:latin typeface="Aptos"/>
              </a:rPr>
              <a:t>11-phase delivery lifecycle</a:t>
            </a:r>
            <a:endParaRPr lang="en-US" sz="1120"/>
          </a:p>
        </p:txBody>
      </p:sp>
      <p:sp>
        <p:nvSpPr>
          <p:cNvPr id="16" name="Metric 16"/>
          <p:cNvSpPr/>
          <p:nvPr/>
        </p:nvSpPr>
        <p:spPr>
          <a:xfrm>
            <a:off x="4736592" y="4983480"/>
            <a:ext cx="1901952" cy="786384"/>
          </a:xfrm>
          <a:prstGeom prst="roundRect">
            <a:avLst/>
          </a:prstGeom>
          <a:solidFill>
            <a:srgbClr val="111C30"/>
          </a:solidFill>
          <a:ln w="12700" cap="flat" cmpd="sng" algn="ctr">
            <a:solidFill>
              <a:srgbClr val="23405D"/>
            </a:solidFill>
            <a:prstDash val="solid"/>
          </a:ln>
        </p:spPr>
        <p:txBody>
          <a:bodyPr/>
          <a:lstStyle/>
          <a:p/>
        </p:txBody>
      </p:sp>
      <p:sp>
        <p:nvSpPr>
          <p:cNvPr id="17" name="Metric Label 17"/>
          <p:cNvSpPr txBox="1"/>
          <p:nvPr/>
        </p:nvSpPr>
        <p:spPr>
          <a:xfrm>
            <a:off x="4846320" y="5102352"/>
            <a:ext cx="1682496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900" b="1" dirty="0" smtClean="0">
                <a:solidFill>
                  <a:srgbClr val="35D0FF"/>
                </a:solidFill>
                <a:latin typeface="Aptos"/>
              </a:rPr>
              <a:t>Operations</a:t>
            </a:r>
            <a:endParaRPr lang="en-US" sz="900"/>
          </a:p>
        </p:txBody>
      </p:sp>
      <p:sp>
        <p:nvSpPr>
          <p:cNvPr id="18" name="Metric Value 18"/>
          <p:cNvSpPr txBox="1"/>
          <p:nvPr/>
        </p:nvSpPr>
        <p:spPr>
          <a:xfrm>
            <a:off x="4846320" y="5321808"/>
            <a:ext cx="1682496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120" dirty="0" smtClean="0">
                <a:solidFill>
                  <a:srgbClr val="F8FAFC"/>
                </a:solidFill>
                <a:latin typeface="Aptos"/>
              </a:rPr>
              <a:t>Azure DevOps, Git, PR, closure</a:t>
            </a:r>
            <a:endParaRPr lang="en-US" sz="1120"/>
          </a:p>
        </p:txBody>
      </p:sp>
      <p:sp>
        <p:nvSpPr>
          <p:cNvPr id="19" name="Meta 19"/>
          <p:cNvSpPr txBox="1"/>
          <p:nvPr/>
        </p:nvSpPr>
        <p:spPr>
          <a:xfrm>
            <a:off x="658368" y="6144768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980" dirty="0" smtClean="0">
                <a:solidFill>
                  <a:srgbClr val="94A3B8"/>
                </a:solidFill>
                <a:latin typeface="Aptos"/>
              </a:rPr>
              <a:t>Version 1.0.0 • Last Updated March 9, 2026</a:t>
            </a:r>
            <a:endParaRPr lang="en-US" sz="980"/>
          </a:p>
        </p:txBody>
      </p:sp>
      <p:sp>
        <p:nvSpPr>
          <p:cNvPr id="20" name="Hero Tag 20"/>
          <p:cNvSpPr txBox="1"/>
          <p:nvPr/>
        </p:nvSpPr>
        <p:spPr>
          <a:xfrm>
            <a:off x="8668512" y="157276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800" b="1" dirty="0" smtClean="0">
                <a:solidFill>
                  <a:srgbClr val="F8FAFC"/>
                </a:solidFill>
                <a:latin typeface="Aptos"/>
              </a:rPr>
              <a:t>Architecture</a:t>
            </a:r>
            <a:endParaRPr lang="en-US" sz="1800"/>
          </a:p>
        </p:txBody>
      </p:sp>
      <p:sp>
        <p:nvSpPr>
          <p:cNvPr id="21" name="Hero Tag 21"/>
          <p:cNvSpPr txBox="1"/>
          <p:nvPr/>
        </p:nvSpPr>
        <p:spPr>
          <a:xfrm>
            <a:off x="8668512" y="272491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800" b="1" dirty="0" smtClean="0">
                <a:solidFill>
                  <a:srgbClr val="F8FAFC"/>
                </a:solidFill>
                <a:latin typeface="Aptos"/>
              </a:rPr>
              <a:t>Workflow</a:t>
            </a:r>
            <a:endParaRPr lang="en-US" sz="1800"/>
          </a:p>
        </p:txBody>
      </p:sp>
      <p:sp>
        <p:nvSpPr>
          <p:cNvPr id="22" name="Hero Tag 22"/>
          <p:cNvSpPr txBox="1"/>
          <p:nvPr/>
        </p:nvSpPr>
        <p:spPr>
          <a:xfrm>
            <a:off x="8668512" y="3895344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800" b="1" dirty="0" smtClean="0">
                <a:solidFill>
                  <a:srgbClr val="F8FAFC"/>
                </a:solidFill>
                <a:latin typeface="Aptos"/>
              </a:rPr>
              <a:t>Delivery</a:t>
            </a:r>
            <a:endParaRPr lang="en-US" sz="1800"/>
          </a:p>
        </p:txBody>
      </p:sp>
      <p:sp>
        <p:nvSpPr>
          <p:cNvPr id="23" name="Hero Body 23"/>
          <p:cNvSpPr txBox="1"/>
          <p:nvPr/>
        </p:nvSpPr>
        <p:spPr>
          <a:xfrm>
            <a:off x="8668512" y="1810512"/>
            <a:ext cx="182880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080" dirty="0" smtClean="0">
                <a:solidFill>
                  <a:srgbClr val="CBD5E1"/>
                </a:solidFill>
                <a:latin typeface="Aptos"/>
              </a:rPr>
              <a:t>Task intake, planning, implementation, and execution ownership.</a:t>
            </a:r>
            <a:endParaRPr lang="en-US" sz="1080"/>
          </a:p>
        </p:txBody>
      </p:sp>
      <p:sp>
        <p:nvSpPr>
          <p:cNvPr id="24" name="Hero Body 24"/>
          <p:cNvSpPr txBox="1"/>
          <p:nvPr/>
        </p:nvSpPr>
        <p:spPr>
          <a:xfrm>
            <a:off x="8668512" y="2971800"/>
            <a:ext cx="182880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080" dirty="0" smtClean="0">
                <a:solidFill>
                  <a:srgbClr val="CBD5E1"/>
                </a:solidFill>
                <a:latin typeface="Aptos"/>
              </a:rPr>
              <a:t>Automated path from active ticket to validated code change.</a:t>
            </a:r>
            <a:endParaRPr lang="en-US" sz="1080"/>
          </a:p>
        </p:txBody>
      </p:sp>
      <p:sp>
        <p:nvSpPr>
          <p:cNvPr id="25" name="Hero Body 25"/>
          <p:cNvSpPr txBox="1"/>
          <p:nvPr/>
        </p:nvSpPr>
        <p:spPr>
          <a:xfrm>
            <a:off x="8668512" y="4133087"/>
            <a:ext cx="182880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080" dirty="0" smtClean="0">
                <a:solidFill>
                  <a:srgbClr val="CBD5E1"/>
                </a:solidFill>
                <a:latin typeface="Aptos"/>
              </a:rPr>
              <a:t>Branching, PR creation, and Azure DevOps closure loop.</a:t>
            </a:r>
            <a:endParaRPr lang="en-US" sz="1080"/>
          </a:p>
        </p:txBody>
      </p:sp>
      <p:sp>
        <p:nvSpPr>
          <p:cNvPr id="26" name="Footer No 26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r"/>
            <a:r>
              <a:rPr lang="en-US" sz="1000" b="1" dirty="0" smtClean="0">
                <a:solidFill>
                  <a:srgbClr val="94A3B8"/>
                </a:solidFill>
                <a:latin typeface="Aptos"/>
              </a:rPr>
              <a:t>01</a:t>
            </a:r>
            <a:endParaRPr lang="en-US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ecutive Summary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5D0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ection Pill 3"/>
          <p:cNvSpPr/>
          <p:nvPr/>
        </p:nvSpPr>
        <p:spPr>
          <a:xfrm>
            <a:off x="384048" y="384048"/>
            <a:ext cx="1965960" cy="329184"/>
          </a:xfrm>
          <a:prstGeom prst="roundRect">
            <a:avLst/>
          </a:prstGeom>
          <a:solidFill>
            <a:srgbClr val="16243B"/>
          </a:solidFill>
          <a:ln w="12700" cap="flat" cmpd="sng" algn="ctr">
            <a:solidFill>
              <a:srgbClr val="35D0FF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Section Text 4"/>
          <p:cNvSpPr txBox="1"/>
          <p:nvPr/>
        </p:nvSpPr>
        <p:spPr>
          <a:xfrm>
            <a:off x="502920" y="420624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950" b="1" dirty="0" smtClean="0">
                <a:solidFill>
                  <a:srgbClr val="35D0FF"/>
                </a:solidFill>
                <a:latin typeface="Aptos"/>
              </a:rPr>
              <a:t>01 EXECUTIVE SUMMARY</a:t>
            </a:r>
            <a:endParaRPr lang="en-US" sz="950"/>
          </a:p>
        </p:txBody>
      </p:sp>
      <p:sp>
        <p:nvSpPr>
          <p:cNvPr id="5" name="Title 5"/>
          <p:cNvSpPr txBox="1"/>
          <p:nvPr/>
        </p:nvSpPr>
        <p:spPr>
          <a:xfrm>
            <a:off x="493776" y="868680"/>
            <a:ext cx="7955279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2600" b="1" dirty="0" smtClean="0">
                <a:solidFill>
                  <a:srgbClr val="F8FAFC"/>
                </a:solidFill>
                <a:latin typeface="Aptos"/>
              </a:rPr>
              <a:t>What the Harbor AI Agent Delivers</a:t>
            </a:r>
            <a:endParaRPr lang="en-US" sz="2600"/>
          </a:p>
        </p:txBody>
      </p:sp>
      <p:sp>
        <p:nvSpPr>
          <p:cNvPr id="6" name="Subtitle 6"/>
          <p:cNvSpPr txBox="1"/>
          <p:nvPr/>
        </p:nvSpPr>
        <p:spPr>
          <a:xfrm>
            <a:off x="512064" y="1371600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180" dirty="0" smtClean="0">
                <a:solidFill>
                  <a:srgbClr val="94A3B8"/>
                </a:solidFill>
                <a:latin typeface="Aptos"/>
              </a:rPr>
              <a:t>Why it exists, what it automates, and the outcomes it is designed to improve.</a:t>
            </a:r>
            <a:endParaRPr lang="en-US" sz="1180"/>
          </a:p>
        </p:txBody>
      </p:sp>
      <p:sp>
        <p:nvSpPr>
          <p:cNvPr id="7" name="Footer No 7"/>
          <p:cNvSpPr txBox="1"/>
          <p:nvPr/>
        </p:nvSpPr>
        <p:spPr>
          <a:xfrm>
            <a:off x="10881360" y="640080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r"/>
            <a:r>
              <a:rPr lang="en-US" sz="1000" b="1" dirty="0" smtClean="0">
                <a:solidFill>
                  <a:srgbClr val="94A3B8"/>
                </a:solidFill>
                <a:latin typeface="Aptos"/>
              </a:rPr>
              <a:t>02</a:t>
            </a:r>
            <a:endParaRPr lang="en-US" sz="1000"/>
          </a:p>
        </p:txBody>
      </p:sp>
      <p:sp>
        <p:nvSpPr>
          <p:cNvPr id="8" name="Footer Text 8"/>
          <p:cNvSpPr txBox="1"/>
          <p:nvPr/>
        </p:nvSpPr>
        <p:spPr>
          <a:xfrm>
            <a:off x="457200" y="6400800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000" dirty="0" smtClean="0">
                <a:solidFill>
                  <a:srgbClr val="94A3B8"/>
                </a:solidFill>
                <a:latin typeface="Aptos"/>
              </a:rPr>
              <a:t>Harbor AI Agent</a:t>
            </a:r>
            <a:endParaRPr lang="en-US" sz="1000"/>
          </a:p>
        </p:txBody>
      </p:sp>
      <p:sp>
        <p:nvSpPr>
          <p:cNvPr id="9" name="Card 9"/>
          <p:cNvSpPr/>
          <p:nvPr/>
        </p:nvSpPr>
        <p:spPr>
          <a:xfrm>
            <a:off x="530352" y="1874519"/>
            <a:ext cx="5440680" cy="3429000"/>
          </a:xfrm>
          <a:prstGeom prst="roundRect">
            <a:avLst/>
          </a:prstGeom>
          <a:solidFill>
            <a:srgbClr val="111C30"/>
          </a:solidFill>
          <a:ln w="12700" cap="flat" cmpd="sng" algn="ctr">
            <a:solidFill>
              <a:srgbClr val="23405D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Accent 10"/>
          <p:cNvSpPr/>
          <p:nvPr/>
        </p:nvSpPr>
        <p:spPr>
          <a:xfrm>
            <a:off x="530352" y="1874519"/>
            <a:ext cx="5440680" cy="73152"/>
          </a:xfrm>
          <a:prstGeom prst="rect">
            <a:avLst/>
          </a:prstGeom>
          <a:solidFill>
            <a:srgbClr val="35D0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Card Title 11"/>
          <p:cNvSpPr txBox="1"/>
          <p:nvPr/>
        </p:nvSpPr>
        <p:spPr>
          <a:xfrm>
            <a:off x="658368" y="1984248"/>
            <a:ext cx="5184648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850" b="1" dirty="0" smtClean="0">
                <a:solidFill>
                  <a:srgbClr val="F8FAFC"/>
                </a:solidFill>
                <a:latin typeface="Aptos"/>
              </a:rPr>
              <a:t>Mission</a:t>
            </a:r>
            <a:endParaRPr lang="en-US" sz="1850"/>
          </a:p>
        </p:txBody>
      </p:sp>
      <p:sp>
        <p:nvSpPr>
          <p:cNvPr id="12" name="Card Body 12"/>
          <p:cNvSpPr txBox="1"/>
          <p:nvPr/>
        </p:nvSpPr>
        <p:spPr>
          <a:xfrm>
            <a:off x="640080" y="2331720"/>
            <a:ext cx="5221224" cy="289864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Automate end-to-end software delivery tasks from intake to close-out.</a:t>
            </a:r>
            <a:endParaRPr lang="en-US" sz="1180"/>
          </a:p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Bridge work-item management and implementation with a single autonomous loop.</a:t>
            </a:r>
            <a:endParaRPr lang="en-US" sz="1180"/>
          </a:p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Reduce repetitive engineering effort while preserving quality controls.</a:t>
            </a:r>
            <a:endParaRPr lang="en-US" sz="1180"/>
          </a:p>
        </p:txBody>
      </p:sp>
      <p:sp>
        <p:nvSpPr>
          <p:cNvPr id="13" name="Card 13"/>
          <p:cNvSpPr/>
          <p:nvPr/>
        </p:nvSpPr>
        <p:spPr>
          <a:xfrm>
            <a:off x="6199632" y="1874519"/>
            <a:ext cx="5440680" cy="3429000"/>
          </a:xfrm>
          <a:prstGeom prst="roundRect">
            <a:avLst/>
          </a:prstGeom>
          <a:solidFill>
            <a:srgbClr val="111C30"/>
          </a:solidFill>
          <a:ln w="12700" cap="flat" cmpd="sng" algn="ctr">
            <a:solidFill>
              <a:srgbClr val="23405D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Accent 14"/>
          <p:cNvSpPr/>
          <p:nvPr/>
        </p:nvSpPr>
        <p:spPr>
          <a:xfrm>
            <a:off x="6199632" y="1874519"/>
            <a:ext cx="544068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Card Title 15"/>
          <p:cNvSpPr txBox="1"/>
          <p:nvPr/>
        </p:nvSpPr>
        <p:spPr>
          <a:xfrm>
            <a:off x="6327648" y="1984248"/>
            <a:ext cx="5184648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850" b="1" dirty="0" smtClean="0">
                <a:solidFill>
                  <a:srgbClr val="F8FAFC"/>
                </a:solidFill>
                <a:latin typeface="Aptos"/>
              </a:rPr>
              <a:t>Core Value</a:t>
            </a:r>
            <a:endParaRPr lang="en-US" sz="1850"/>
          </a:p>
        </p:txBody>
      </p:sp>
      <p:sp>
        <p:nvSpPr>
          <p:cNvPr id="16" name="Card Body 16"/>
          <p:cNvSpPr txBox="1"/>
          <p:nvPr/>
        </p:nvSpPr>
        <p:spPr>
          <a:xfrm>
            <a:off x="6309360" y="2331720"/>
            <a:ext cx="5221224" cy="289864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Autonomy: execute without constant human intervention.</a:t>
            </a:r>
            <a:endParaRPr lang="en-US" sz="1180"/>
          </a:p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Consistency: apply shared standards and architectural patterns.</a:t>
            </a:r>
            <a:endParaRPr lang="en-US" sz="1180"/>
          </a:p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Efficiency: remove handoffs and speed up implementation.</a:t>
            </a:r>
            <a:endParaRPr lang="en-US" sz="1180"/>
          </a:p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Integration: work inside Azure DevOps and Git-based delivery.</a:t>
            </a:r>
            <a:endParaRPr lang="en-US" sz="1180"/>
          </a:p>
        </p:txBody>
      </p:sp>
      <p:sp>
        <p:nvSpPr>
          <p:cNvPr id="17" name="Summary Metric 17"/>
          <p:cNvSpPr/>
          <p:nvPr/>
        </p:nvSpPr>
        <p:spPr>
          <a:xfrm>
            <a:off x="731520" y="5577840"/>
            <a:ext cx="3063240" cy="658368"/>
          </a:xfrm>
          <a:prstGeom prst="roundRect">
            <a:avLst/>
          </a:prstGeom>
          <a:solidFill>
            <a:srgbClr val="16243B"/>
          </a:solidFill>
          <a:ln w="12700" cap="flat" cmpd="sng" algn="ctr">
            <a:solidFill>
              <a:srgbClr val="23405D"/>
            </a:solidFill>
            <a:prstDash val="solid"/>
          </a:ln>
        </p:spPr>
        <p:txBody>
          <a:bodyPr/>
          <a:lstStyle/>
          <a:p/>
        </p:txBody>
      </p:sp>
      <p:sp>
        <p:nvSpPr>
          <p:cNvPr id="18" name="Metric Title 18"/>
          <p:cNvSpPr txBox="1"/>
          <p:nvPr/>
        </p:nvSpPr>
        <p:spPr>
          <a:xfrm>
            <a:off x="859536" y="5678424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930" b="1" dirty="0" smtClean="0">
                <a:solidFill>
                  <a:srgbClr val="35D0FF"/>
                </a:solidFill>
                <a:latin typeface="Aptos"/>
              </a:rPr>
              <a:t>Autonomy</a:t>
            </a:r>
            <a:endParaRPr lang="en-US" sz="930"/>
          </a:p>
        </p:txBody>
      </p:sp>
      <p:sp>
        <p:nvSpPr>
          <p:cNvPr id="19" name="Metric Body 19"/>
          <p:cNvSpPr txBox="1"/>
          <p:nvPr/>
        </p:nvSpPr>
        <p:spPr>
          <a:xfrm>
            <a:off x="1755648" y="5650992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040" dirty="0" smtClean="0">
                <a:solidFill>
                  <a:srgbClr val="CBD5E1"/>
                </a:solidFill>
                <a:latin typeface="Aptos"/>
              </a:rPr>
              <a:t>Independent task lifecycle</a:t>
            </a:r>
            <a:endParaRPr lang="en-US" sz="1040"/>
          </a:p>
        </p:txBody>
      </p:sp>
      <p:sp>
        <p:nvSpPr>
          <p:cNvPr id="20" name="Summary Metric 20"/>
          <p:cNvSpPr/>
          <p:nvPr/>
        </p:nvSpPr>
        <p:spPr>
          <a:xfrm>
            <a:off x="4251960" y="5577840"/>
            <a:ext cx="3063240" cy="658368"/>
          </a:xfrm>
          <a:prstGeom prst="roundRect">
            <a:avLst/>
          </a:prstGeom>
          <a:solidFill>
            <a:srgbClr val="16243B"/>
          </a:solidFill>
          <a:ln w="12700" cap="flat" cmpd="sng" algn="ctr">
            <a:solidFill>
              <a:srgbClr val="23405D"/>
            </a:solidFill>
            <a:prstDash val="solid"/>
          </a:ln>
        </p:spPr>
        <p:txBody>
          <a:bodyPr/>
          <a:lstStyle/>
          <a:p/>
        </p:txBody>
      </p:sp>
      <p:sp>
        <p:nvSpPr>
          <p:cNvPr id="21" name="Metric Title 21"/>
          <p:cNvSpPr txBox="1"/>
          <p:nvPr/>
        </p:nvSpPr>
        <p:spPr>
          <a:xfrm>
            <a:off x="4379976" y="5678424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930" b="1" dirty="0" smtClean="0">
                <a:solidFill>
                  <a:srgbClr val="35D0FF"/>
                </a:solidFill>
                <a:latin typeface="Aptos"/>
              </a:rPr>
              <a:t>Consistency</a:t>
            </a:r>
            <a:endParaRPr lang="en-US" sz="930"/>
          </a:p>
        </p:txBody>
      </p:sp>
      <p:sp>
        <p:nvSpPr>
          <p:cNvPr id="22" name="Metric Body 22"/>
          <p:cNvSpPr txBox="1"/>
          <p:nvPr/>
        </p:nvSpPr>
        <p:spPr>
          <a:xfrm>
            <a:off x="5276088" y="5650992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040" dirty="0" smtClean="0">
                <a:solidFill>
                  <a:srgbClr val="CBD5E1"/>
                </a:solidFill>
                <a:latin typeface="Aptos"/>
              </a:rPr>
              <a:t>Repeatable engineering flow</a:t>
            </a:r>
            <a:endParaRPr lang="en-US" sz="1040"/>
          </a:p>
        </p:txBody>
      </p:sp>
      <p:sp>
        <p:nvSpPr>
          <p:cNvPr id="23" name="Summary Metric 23"/>
          <p:cNvSpPr/>
          <p:nvPr/>
        </p:nvSpPr>
        <p:spPr>
          <a:xfrm>
            <a:off x="7772400" y="5577840"/>
            <a:ext cx="3063240" cy="658368"/>
          </a:xfrm>
          <a:prstGeom prst="roundRect">
            <a:avLst/>
          </a:prstGeom>
          <a:solidFill>
            <a:srgbClr val="16243B"/>
          </a:solidFill>
          <a:ln w="12700" cap="flat" cmpd="sng" algn="ctr">
            <a:solidFill>
              <a:srgbClr val="23405D"/>
            </a:solidFill>
            <a:prstDash val="solid"/>
          </a:ln>
        </p:spPr>
        <p:txBody>
          <a:bodyPr/>
          <a:lstStyle/>
          <a:p/>
        </p:txBody>
      </p:sp>
      <p:sp>
        <p:nvSpPr>
          <p:cNvPr id="24" name="Metric Title 24"/>
          <p:cNvSpPr txBox="1"/>
          <p:nvPr/>
        </p:nvSpPr>
        <p:spPr>
          <a:xfrm>
            <a:off x="7900416" y="5678424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930" b="1" dirty="0" smtClean="0">
                <a:solidFill>
                  <a:srgbClr val="35D0FF"/>
                </a:solidFill>
                <a:latin typeface="Aptos"/>
              </a:rPr>
              <a:t>Quality</a:t>
            </a:r>
            <a:endParaRPr lang="en-US" sz="930"/>
          </a:p>
        </p:txBody>
      </p:sp>
      <p:sp>
        <p:nvSpPr>
          <p:cNvPr id="25" name="Metric Body 25"/>
          <p:cNvSpPr txBox="1"/>
          <p:nvPr/>
        </p:nvSpPr>
        <p:spPr>
          <a:xfrm>
            <a:off x="8796528" y="5650992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040" dirty="0" smtClean="0">
                <a:solidFill>
                  <a:srgbClr val="CBD5E1"/>
                </a:solidFill>
                <a:latin typeface="Aptos"/>
              </a:rPr>
              <a:t>Testing + verification gates</a:t>
            </a:r>
            <a:endParaRPr lang="en-US" sz="104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rchitecture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5D0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ection Pill 3"/>
          <p:cNvSpPr/>
          <p:nvPr/>
        </p:nvSpPr>
        <p:spPr>
          <a:xfrm>
            <a:off x="384048" y="384048"/>
            <a:ext cx="1965960" cy="329184"/>
          </a:xfrm>
          <a:prstGeom prst="roundRect">
            <a:avLst/>
          </a:prstGeom>
          <a:solidFill>
            <a:srgbClr val="16243B"/>
          </a:solidFill>
          <a:ln w="12700" cap="flat" cmpd="sng" algn="ctr">
            <a:solidFill>
              <a:srgbClr val="35D0FF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Section Text 4"/>
          <p:cNvSpPr txBox="1"/>
          <p:nvPr/>
        </p:nvSpPr>
        <p:spPr>
          <a:xfrm>
            <a:off x="502920" y="420624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950" b="1" dirty="0" smtClean="0">
                <a:solidFill>
                  <a:srgbClr val="35D0FF"/>
                </a:solidFill>
                <a:latin typeface="Aptos"/>
              </a:rPr>
              <a:t>02 ARCHITECTURE</a:t>
            </a:r>
            <a:endParaRPr lang="en-US" sz="950"/>
          </a:p>
        </p:txBody>
      </p:sp>
      <p:sp>
        <p:nvSpPr>
          <p:cNvPr id="5" name="Title 5"/>
          <p:cNvSpPr txBox="1"/>
          <p:nvPr/>
        </p:nvSpPr>
        <p:spPr>
          <a:xfrm>
            <a:off x="493776" y="868680"/>
            <a:ext cx="7955279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2600" b="1" dirty="0" smtClean="0">
                <a:solidFill>
                  <a:srgbClr val="F8FAFC"/>
                </a:solidFill>
                <a:latin typeface="Aptos"/>
              </a:rPr>
              <a:t>High-Level System Architecture</a:t>
            </a:r>
            <a:endParaRPr lang="en-US" sz="2600"/>
          </a:p>
        </p:txBody>
      </p:sp>
      <p:sp>
        <p:nvSpPr>
          <p:cNvPr id="6" name="Subtitle 6"/>
          <p:cNvSpPr txBox="1"/>
          <p:nvPr/>
        </p:nvSpPr>
        <p:spPr>
          <a:xfrm>
            <a:off x="512064" y="1371600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180" dirty="0" smtClean="0">
                <a:solidFill>
                  <a:srgbClr val="94A3B8"/>
                </a:solidFill>
                <a:latin typeface="Aptos"/>
              </a:rPr>
              <a:t>The agent orchestrates tasks across services, source control, and Azure DevOps.</a:t>
            </a:r>
            <a:endParaRPr lang="en-US" sz="1180"/>
          </a:p>
        </p:txBody>
      </p:sp>
      <p:sp>
        <p:nvSpPr>
          <p:cNvPr id="7" name="Footer No 7"/>
          <p:cNvSpPr txBox="1"/>
          <p:nvPr/>
        </p:nvSpPr>
        <p:spPr>
          <a:xfrm>
            <a:off x="10881360" y="640080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r"/>
            <a:r>
              <a:rPr lang="en-US" sz="1000" b="1" dirty="0" smtClean="0">
                <a:solidFill>
                  <a:srgbClr val="94A3B8"/>
                </a:solidFill>
                <a:latin typeface="Aptos"/>
              </a:rPr>
              <a:t>03</a:t>
            </a:r>
            <a:endParaRPr lang="en-US" sz="1000"/>
          </a:p>
        </p:txBody>
      </p:sp>
      <p:sp>
        <p:nvSpPr>
          <p:cNvPr id="8" name="Footer Text 8"/>
          <p:cNvSpPr txBox="1"/>
          <p:nvPr/>
        </p:nvSpPr>
        <p:spPr>
          <a:xfrm>
            <a:off x="457200" y="6400800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000" dirty="0" smtClean="0">
                <a:solidFill>
                  <a:srgbClr val="94A3B8"/>
                </a:solidFill>
                <a:latin typeface="Aptos"/>
              </a:rPr>
              <a:t>Harbor AI Agent</a:t>
            </a:r>
            <a:endParaRPr lang="en-US" sz="1000"/>
          </a:p>
        </p:txBody>
      </p:sp>
      <p:sp>
        <p:nvSpPr>
          <p:cNvPr id="9" name="Flow Box 9"/>
          <p:cNvSpPr/>
          <p:nvPr/>
        </p:nvSpPr>
        <p:spPr>
          <a:xfrm>
            <a:off x="749808" y="2240280"/>
            <a:ext cx="2148840" cy="1325880"/>
          </a:xfrm>
          <a:prstGeom prst="roundRect">
            <a:avLst/>
          </a:prstGeom>
          <a:solidFill>
            <a:srgbClr val="111C30"/>
          </a:solidFill>
          <a:ln w="12700" cap="flat" cmpd="sng" algn="ctr">
            <a:solidFill>
              <a:srgbClr val="23405D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Flow Accent 10"/>
          <p:cNvSpPr/>
          <p:nvPr/>
        </p:nvSpPr>
        <p:spPr>
          <a:xfrm>
            <a:off x="749808" y="2240280"/>
            <a:ext cx="2148840" cy="73152"/>
          </a:xfrm>
          <a:prstGeom prst="rect">
            <a:avLst/>
          </a:prstGeom>
          <a:solidFill>
            <a:srgbClr val="35D0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Flow Title 11"/>
          <p:cNvSpPr txBox="1"/>
          <p:nvPr/>
        </p:nvSpPr>
        <p:spPr>
          <a:xfrm>
            <a:off x="877824" y="2395728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ctr"/>
            <a:r>
              <a:rPr lang="en-US" sz="1500" b="1" dirty="0" smtClean="0">
                <a:solidFill>
                  <a:srgbClr val="F8FAFC"/>
                </a:solidFill>
                <a:latin typeface="Aptos"/>
              </a:rPr>
              <a:t>Azure DevOps</a:t>
            </a:r>
            <a:endParaRPr lang="en-US" sz="1500"/>
          </a:p>
        </p:txBody>
      </p:sp>
      <p:sp>
        <p:nvSpPr>
          <p:cNvPr id="12" name="Flow Body 12"/>
          <p:cNvSpPr txBox="1"/>
          <p:nvPr/>
        </p:nvSpPr>
        <p:spPr>
          <a:xfrm>
            <a:off x="896112" y="2724912"/>
            <a:ext cx="1828800" cy="530352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ctr"/>
            <a:r>
              <a:rPr lang="en-US" sz="1040" dirty="0" smtClean="0">
                <a:solidFill>
                  <a:srgbClr val="CBD5E1"/>
                </a:solidFill>
                <a:latin typeface="Aptos"/>
              </a:rPr>
              <a:t>Task source
Active work items</a:t>
            </a:r>
            <a:endParaRPr lang="en-US" sz="1040"/>
          </a:p>
        </p:txBody>
      </p:sp>
      <p:sp>
        <p:nvSpPr>
          <p:cNvPr id="13" name="Flow Box 13"/>
          <p:cNvSpPr/>
          <p:nvPr/>
        </p:nvSpPr>
        <p:spPr>
          <a:xfrm>
            <a:off x="3154680" y="2240280"/>
            <a:ext cx="2148840" cy="1325880"/>
          </a:xfrm>
          <a:prstGeom prst="roundRect">
            <a:avLst/>
          </a:prstGeom>
          <a:solidFill>
            <a:srgbClr val="111C30"/>
          </a:solidFill>
          <a:ln w="12700" cap="flat" cmpd="sng" algn="ctr">
            <a:solidFill>
              <a:srgbClr val="23405D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Flow Accent 14"/>
          <p:cNvSpPr/>
          <p:nvPr/>
        </p:nvSpPr>
        <p:spPr>
          <a:xfrm>
            <a:off x="3154680" y="2240280"/>
            <a:ext cx="2148840" cy="73152"/>
          </a:xfrm>
          <a:prstGeom prst="rect">
            <a:avLst/>
          </a:prstGeom>
          <a:solidFill>
            <a:srgbClr val="35D0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Flow Title 15"/>
          <p:cNvSpPr txBox="1"/>
          <p:nvPr/>
        </p:nvSpPr>
        <p:spPr>
          <a:xfrm>
            <a:off x="3282696" y="2395728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ctr"/>
            <a:r>
              <a:rPr lang="en-US" sz="1500" b="1" dirty="0" smtClean="0">
                <a:solidFill>
                  <a:srgbClr val="F8FAFC"/>
                </a:solidFill>
                <a:latin typeface="Aptos"/>
              </a:rPr>
              <a:t>Harbor AI Agent</a:t>
            </a:r>
            <a:endParaRPr lang="en-US" sz="1500"/>
          </a:p>
        </p:txBody>
      </p:sp>
      <p:sp>
        <p:nvSpPr>
          <p:cNvPr id="16" name="Flow Body 16"/>
          <p:cNvSpPr txBox="1"/>
          <p:nvPr/>
        </p:nvSpPr>
        <p:spPr>
          <a:xfrm>
            <a:off x="3300984" y="2724912"/>
            <a:ext cx="1828800" cy="530352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ctr"/>
            <a:r>
              <a:rPr lang="en-US" sz="1040" dirty="0" smtClean="0">
                <a:solidFill>
                  <a:srgbClr val="CBD5E1"/>
                </a:solidFill>
                <a:latin typeface="Aptos"/>
              </a:rPr>
              <a:t>Planning
Execution
Validation</a:t>
            </a:r>
            <a:endParaRPr lang="en-US" sz="1040"/>
          </a:p>
        </p:txBody>
      </p:sp>
      <p:sp>
        <p:nvSpPr>
          <p:cNvPr id="17" name="Flow Box 17"/>
          <p:cNvSpPr/>
          <p:nvPr/>
        </p:nvSpPr>
        <p:spPr>
          <a:xfrm>
            <a:off x="5623560" y="2240280"/>
            <a:ext cx="2148840" cy="1325880"/>
          </a:xfrm>
          <a:prstGeom prst="roundRect">
            <a:avLst/>
          </a:prstGeom>
          <a:solidFill>
            <a:srgbClr val="111C30"/>
          </a:solidFill>
          <a:ln w="12700" cap="flat" cmpd="sng" algn="ctr">
            <a:solidFill>
              <a:srgbClr val="23405D"/>
            </a:solidFill>
            <a:prstDash val="solid"/>
          </a:ln>
        </p:spPr>
        <p:txBody>
          <a:bodyPr/>
          <a:lstStyle/>
          <a:p/>
        </p:txBody>
      </p:sp>
      <p:sp>
        <p:nvSpPr>
          <p:cNvPr id="18" name="Flow Accent 18"/>
          <p:cNvSpPr/>
          <p:nvPr/>
        </p:nvSpPr>
        <p:spPr>
          <a:xfrm>
            <a:off x="5623560" y="2240280"/>
            <a:ext cx="214884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Flow Title 19"/>
          <p:cNvSpPr txBox="1"/>
          <p:nvPr/>
        </p:nvSpPr>
        <p:spPr>
          <a:xfrm>
            <a:off x="5751576" y="2395728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ctr"/>
            <a:r>
              <a:rPr lang="en-US" sz="1500" b="1" dirty="0" smtClean="0">
                <a:solidFill>
                  <a:srgbClr val="F8FAFC"/>
                </a:solidFill>
                <a:latin typeface="Aptos"/>
              </a:rPr>
              <a:t>Project Services</a:t>
            </a:r>
            <a:endParaRPr lang="en-US" sz="1500"/>
          </a:p>
        </p:txBody>
      </p:sp>
      <p:sp>
        <p:nvSpPr>
          <p:cNvPr id="20" name="Flow Body 20"/>
          <p:cNvSpPr txBox="1"/>
          <p:nvPr/>
        </p:nvSpPr>
        <p:spPr>
          <a:xfrm>
            <a:off x="5769864" y="2724912"/>
            <a:ext cx="1828800" cy="530352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ctr"/>
            <a:r>
              <a:rPr lang="en-US" sz="1040" dirty="0" smtClean="0">
                <a:solidFill>
                  <a:srgbClr val="CBD5E1"/>
                </a:solidFill>
                <a:latin typeface="Aptos"/>
              </a:rPr>
              <a:t>User, Job, Notification, Socket, Gateway</a:t>
            </a:r>
            <a:endParaRPr lang="en-US" sz="1040"/>
          </a:p>
        </p:txBody>
      </p:sp>
      <p:sp>
        <p:nvSpPr>
          <p:cNvPr id="21" name="Flow Box 21"/>
          <p:cNvSpPr/>
          <p:nvPr/>
        </p:nvSpPr>
        <p:spPr>
          <a:xfrm>
            <a:off x="8366760" y="2240280"/>
            <a:ext cx="2148840" cy="1325880"/>
          </a:xfrm>
          <a:prstGeom prst="roundRect">
            <a:avLst/>
          </a:prstGeom>
          <a:solidFill>
            <a:srgbClr val="111C30"/>
          </a:solidFill>
          <a:ln w="12700" cap="flat" cmpd="sng" algn="ctr">
            <a:solidFill>
              <a:srgbClr val="23405D"/>
            </a:solidFill>
            <a:prstDash val="solid"/>
          </a:ln>
        </p:spPr>
        <p:txBody>
          <a:bodyPr/>
          <a:lstStyle/>
          <a:p/>
        </p:txBody>
      </p:sp>
      <p:sp>
        <p:nvSpPr>
          <p:cNvPr id="22" name="Flow Accent 22"/>
          <p:cNvSpPr/>
          <p:nvPr/>
        </p:nvSpPr>
        <p:spPr>
          <a:xfrm>
            <a:off x="8366760" y="2240280"/>
            <a:ext cx="214884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Flow Title 23"/>
          <p:cNvSpPr txBox="1"/>
          <p:nvPr/>
        </p:nvSpPr>
        <p:spPr>
          <a:xfrm>
            <a:off x="8494776" y="2395728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ctr"/>
            <a:r>
              <a:rPr lang="en-US" sz="1500" b="1" dirty="0" smtClean="0">
                <a:solidFill>
                  <a:srgbClr val="F8FAFC"/>
                </a:solidFill>
                <a:latin typeface="Aptos"/>
              </a:rPr>
              <a:t>Git + PR</a:t>
            </a:r>
            <a:endParaRPr lang="en-US" sz="1500"/>
          </a:p>
        </p:txBody>
      </p:sp>
      <p:sp>
        <p:nvSpPr>
          <p:cNvPr id="24" name="Flow Body 24"/>
          <p:cNvSpPr txBox="1"/>
          <p:nvPr/>
        </p:nvSpPr>
        <p:spPr>
          <a:xfrm>
            <a:off x="8513064" y="2724912"/>
            <a:ext cx="1828800" cy="530352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ctr"/>
            <a:r>
              <a:rPr lang="en-US" sz="1040" dirty="0" smtClean="0">
                <a:solidFill>
                  <a:srgbClr val="CBD5E1"/>
                </a:solidFill>
                <a:latin typeface="Aptos"/>
              </a:rPr>
              <a:t>Branch
Commit
PR
Closure</a:t>
            </a:r>
            <a:endParaRPr lang="en-US" sz="1040"/>
          </a:p>
        </p:txBody>
      </p:sp>
      <p:sp>
        <p:nvSpPr>
          <p:cNvPr id="25" name="Arrow 25"/>
          <p:cNvSpPr txBox="1"/>
          <p:nvPr/>
        </p:nvSpPr>
        <p:spPr>
          <a:xfrm>
            <a:off x="2743200" y="2688336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ctr"/>
            <a:r>
              <a:rPr lang="en-US" sz="2200" b="1" dirty="0" smtClean="0">
                <a:solidFill>
                  <a:srgbClr val="35D0FF"/>
                </a:solidFill>
                <a:latin typeface="Aptos"/>
              </a:rPr>
              <a:t>→</a:t>
            </a:r>
            <a:endParaRPr lang="en-US" sz="2200"/>
          </a:p>
        </p:txBody>
      </p:sp>
      <p:sp>
        <p:nvSpPr>
          <p:cNvPr id="26" name="Arrow 26"/>
          <p:cNvSpPr txBox="1"/>
          <p:nvPr/>
        </p:nvSpPr>
        <p:spPr>
          <a:xfrm>
            <a:off x="5230368" y="2688336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ctr"/>
            <a:r>
              <a:rPr lang="en-US" sz="2200" b="1" dirty="0" smtClean="0">
                <a:solidFill>
                  <a:srgbClr val="35D0FF"/>
                </a:solidFill>
                <a:latin typeface="Aptos"/>
              </a:rPr>
              <a:t>→</a:t>
            </a:r>
            <a:endParaRPr lang="en-US" sz="2200"/>
          </a:p>
        </p:txBody>
      </p:sp>
      <p:sp>
        <p:nvSpPr>
          <p:cNvPr id="27" name="Arrow 27"/>
          <p:cNvSpPr txBox="1"/>
          <p:nvPr/>
        </p:nvSpPr>
        <p:spPr>
          <a:xfrm>
            <a:off x="7973568" y="2688336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ctr"/>
            <a:r>
              <a:rPr lang="en-US" sz="2200" b="1" dirty="0" smtClean="0">
                <a:solidFill>
                  <a:srgbClr val="35D0FF"/>
                </a:solidFill>
                <a:latin typeface="Aptos"/>
              </a:rPr>
              <a:t>→</a:t>
            </a:r>
            <a:endParaRPr lang="en-US" sz="2200"/>
          </a:p>
        </p:txBody>
      </p:sp>
      <p:sp>
        <p:nvSpPr>
          <p:cNvPr id="28" name="Card 28"/>
          <p:cNvSpPr/>
          <p:nvPr/>
        </p:nvSpPr>
        <p:spPr>
          <a:xfrm>
            <a:off x="713232" y="4069080"/>
            <a:ext cx="3703320" cy="1645920"/>
          </a:xfrm>
          <a:prstGeom prst="roundRect">
            <a:avLst/>
          </a:prstGeom>
          <a:solidFill>
            <a:srgbClr val="111C30"/>
          </a:solidFill>
          <a:ln w="12700" cap="flat" cmpd="sng" algn="ctr">
            <a:solidFill>
              <a:srgbClr val="23405D"/>
            </a:solidFill>
            <a:prstDash val="solid"/>
          </a:ln>
        </p:spPr>
        <p:txBody>
          <a:bodyPr/>
          <a:lstStyle/>
          <a:p/>
        </p:txBody>
      </p:sp>
      <p:sp>
        <p:nvSpPr>
          <p:cNvPr id="29" name="Accent 29"/>
          <p:cNvSpPr/>
          <p:nvPr/>
        </p:nvSpPr>
        <p:spPr>
          <a:xfrm>
            <a:off x="713232" y="4069080"/>
            <a:ext cx="3703320" cy="73152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Card Title 30"/>
          <p:cNvSpPr txBox="1"/>
          <p:nvPr/>
        </p:nvSpPr>
        <p:spPr>
          <a:xfrm>
            <a:off x="841248" y="4178808"/>
            <a:ext cx="3447287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850" b="1" dirty="0" smtClean="0">
                <a:solidFill>
                  <a:srgbClr val="F8FAFC"/>
                </a:solidFill>
                <a:latin typeface="Aptos"/>
              </a:rPr>
              <a:t>Core Components</a:t>
            </a:r>
            <a:endParaRPr lang="en-US" sz="1850"/>
          </a:p>
        </p:txBody>
      </p:sp>
      <p:sp>
        <p:nvSpPr>
          <p:cNvPr id="31" name="Card Body 31"/>
          <p:cNvSpPr txBox="1"/>
          <p:nvPr/>
        </p:nvSpPr>
        <p:spPr>
          <a:xfrm>
            <a:off x="822960" y="4526280"/>
            <a:ext cx="3483863" cy="111556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Persistent context and workflow orchestration</a:t>
            </a:r>
            <a:endParaRPr lang="en-US" sz="1180"/>
          </a:p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REST integration with Azure DevOps</a:t>
            </a:r>
            <a:endParaRPr lang="en-US" sz="1180"/>
          </a:p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Monorepo-aware implementation logic</a:t>
            </a:r>
            <a:endParaRPr lang="en-US" sz="1180"/>
          </a:p>
        </p:txBody>
      </p:sp>
      <p:sp>
        <p:nvSpPr>
          <p:cNvPr id="32" name="Card 32"/>
          <p:cNvSpPr/>
          <p:nvPr/>
        </p:nvSpPr>
        <p:spPr>
          <a:xfrm>
            <a:off x="4553712" y="4069080"/>
            <a:ext cx="3291840" cy="1645920"/>
          </a:xfrm>
          <a:prstGeom prst="roundRect">
            <a:avLst/>
          </a:prstGeom>
          <a:solidFill>
            <a:srgbClr val="111C30"/>
          </a:solidFill>
          <a:ln w="12700" cap="flat" cmpd="sng" algn="ctr">
            <a:solidFill>
              <a:srgbClr val="23405D"/>
            </a:solidFill>
            <a:prstDash val="solid"/>
          </a:ln>
        </p:spPr>
        <p:txBody>
          <a:bodyPr/>
          <a:lstStyle/>
          <a:p/>
        </p:txBody>
      </p:sp>
      <p:sp>
        <p:nvSpPr>
          <p:cNvPr id="33" name="Accent 33"/>
          <p:cNvSpPr/>
          <p:nvPr/>
        </p:nvSpPr>
        <p:spPr>
          <a:xfrm>
            <a:off x="4553712" y="4069080"/>
            <a:ext cx="3291840" cy="73152"/>
          </a:xfrm>
          <a:prstGeom prst="rect">
            <a:avLst/>
          </a:prstGeom>
          <a:solidFill>
            <a:srgbClr val="35D0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Card Title 34"/>
          <p:cNvSpPr txBox="1"/>
          <p:nvPr/>
        </p:nvSpPr>
        <p:spPr>
          <a:xfrm>
            <a:off x="4681728" y="4178808"/>
            <a:ext cx="3035808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850" b="1" dirty="0" smtClean="0">
                <a:solidFill>
                  <a:srgbClr val="F8FAFC"/>
                </a:solidFill>
                <a:latin typeface="Aptos"/>
              </a:rPr>
              <a:t>Control Plane</a:t>
            </a:r>
            <a:endParaRPr lang="en-US" sz="1850"/>
          </a:p>
        </p:txBody>
      </p:sp>
      <p:sp>
        <p:nvSpPr>
          <p:cNvPr id="35" name="Card Body 35"/>
          <p:cNvSpPr txBox="1"/>
          <p:nvPr/>
        </p:nvSpPr>
        <p:spPr>
          <a:xfrm>
            <a:off x="4663440" y="4526280"/>
            <a:ext cx="3072384" cy="111556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Task filtering and prioritization</a:t>
            </a:r>
            <a:endParaRPr lang="en-US" sz="1180"/>
          </a:p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Architecture understanding</a:t>
            </a:r>
            <a:endParaRPr lang="en-US" sz="1180"/>
          </a:p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Dependency-aware planning</a:t>
            </a:r>
            <a:endParaRPr lang="en-US" sz="1180"/>
          </a:p>
        </p:txBody>
      </p:sp>
      <p:sp>
        <p:nvSpPr>
          <p:cNvPr id="36" name="Card 36"/>
          <p:cNvSpPr/>
          <p:nvPr/>
        </p:nvSpPr>
        <p:spPr>
          <a:xfrm>
            <a:off x="8028431" y="4069080"/>
            <a:ext cx="3611880" cy="1645920"/>
          </a:xfrm>
          <a:prstGeom prst="roundRect">
            <a:avLst/>
          </a:prstGeom>
          <a:solidFill>
            <a:srgbClr val="111C30"/>
          </a:solidFill>
          <a:ln w="12700" cap="flat" cmpd="sng" algn="ctr">
            <a:solidFill>
              <a:srgbClr val="23405D"/>
            </a:solidFill>
            <a:prstDash val="solid"/>
          </a:ln>
        </p:spPr>
        <p:txBody>
          <a:bodyPr/>
          <a:lstStyle/>
          <a:p/>
        </p:txBody>
      </p:sp>
      <p:sp>
        <p:nvSpPr>
          <p:cNvPr id="37" name="Accent 37"/>
          <p:cNvSpPr/>
          <p:nvPr/>
        </p:nvSpPr>
        <p:spPr>
          <a:xfrm>
            <a:off x="8028431" y="4069080"/>
            <a:ext cx="361188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Card Title 38"/>
          <p:cNvSpPr txBox="1"/>
          <p:nvPr/>
        </p:nvSpPr>
        <p:spPr>
          <a:xfrm>
            <a:off x="8156448" y="4178808"/>
            <a:ext cx="3355848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850" b="1" dirty="0" smtClean="0">
                <a:solidFill>
                  <a:srgbClr val="F8FAFC"/>
                </a:solidFill>
                <a:latin typeface="Aptos"/>
              </a:rPr>
              <a:t>Delivery Outputs</a:t>
            </a:r>
            <a:endParaRPr lang="en-US" sz="1850"/>
          </a:p>
        </p:txBody>
      </p:sp>
      <p:sp>
        <p:nvSpPr>
          <p:cNvPr id="39" name="Card Body 39"/>
          <p:cNvSpPr txBox="1"/>
          <p:nvPr/>
        </p:nvSpPr>
        <p:spPr>
          <a:xfrm>
            <a:off x="8138159" y="4526280"/>
            <a:ext cx="3392424" cy="111556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Validated code changes</a:t>
            </a:r>
            <a:endParaRPr lang="en-US" sz="1180"/>
          </a:p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Remote branch or PR</a:t>
            </a:r>
            <a:endParaRPr lang="en-US" sz="1180"/>
          </a:p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Closed ticket with implementation notes</a:t>
            </a:r>
            <a:endParaRPr lang="en-US" sz="118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rvice Landscape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5D0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ection Pill 3"/>
          <p:cNvSpPr/>
          <p:nvPr/>
        </p:nvSpPr>
        <p:spPr>
          <a:xfrm>
            <a:off x="384048" y="384048"/>
            <a:ext cx="1965960" cy="329184"/>
          </a:xfrm>
          <a:prstGeom prst="roundRect">
            <a:avLst/>
          </a:prstGeom>
          <a:solidFill>
            <a:srgbClr val="16243B"/>
          </a:solidFill>
          <a:ln w="12700" cap="flat" cmpd="sng" algn="ctr">
            <a:solidFill>
              <a:srgbClr val="35D0FF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Section Text 4"/>
          <p:cNvSpPr txBox="1"/>
          <p:nvPr/>
        </p:nvSpPr>
        <p:spPr>
          <a:xfrm>
            <a:off x="502920" y="420624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950" b="1" dirty="0" smtClean="0">
                <a:solidFill>
                  <a:srgbClr val="35D0FF"/>
                </a:solidFill>
                <a:latin typeface="Aptos"/>
              </a:rPr>
              <a:t>02 ARCHITECTURE</a:t>
            </a:r>
            <a:endParaRPr lang="en-US" sz="950"/>
          </a:p>
        </p:txBody>
      </p:sp>
      <p:sp>
        <p:nvSpPr>
          <p:cNvPr id="5" name="Title 5"/>
          <p:cNvSpPr txBox="1"/>
          <p:nvPr/>
        </p:nvSpPr>
        <p:spPr>
          <a:xfrm>
            <a:off x="493776" y="868680"/>
            <a:ext cx="7955279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2600" b="1" dirty="0" smtClean="0">
                <a:solidFill>
                  <a:srgbClr val="F8FAFC"/>
                </a:solidFill>
                <a:latin typeface="Aptos"/>
              </a:rPr>
              <a:t>Harbor Service Landscape</a:t>
            </a:r>
            <a:endParaRPr lang="en-US" sz="2600"/>
          </a:p>
        </p:txBody>
      </p:sp>
      <p:sp>
        <p:nvSpPr>
          <p:cNvPr id="6" name="Subtitle 6"/>
          <p:cNvSpPr txBox="1"/>
          <p:nvPr/>
        </p:nvSpPr>
        <p:spPr>
          <a:xfrm>
            <a:off x="512064" y="1371600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180" dirty="0" smtClean="0">
                <a:solidFill>
                  <a:srgbClr val="94A3B8"/>
                </a:solidFill>
                <a:latin typeface="Aptos"/>
              </a:rPr>
              <a:t>A microservices platform with a shared model library consumed across services.</a:t>
            </a:r>
            <a:endParaRPr lang="en-US" sz="1180"/>
          </a:p>
        </p:txBody>
      </p:sp>
      <p:sp>
        <p:nvSpPr>
          <p:cNvPr id="7" name="Footer No 7"/>
          <p:cNvSpPr txBox="1"/>
          <p:nvPr/>
        </p:nvSpPr>
        <p:spPr>
          <a:xfrm>
            <a:off x="10881360" y="640080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r"/>
            <a:r>
              <a:rPr lang="en-US" sz="1000" b="1" dirty="0" smtClean="0">
                <a:solidFill>
                  <a:srgbClr val="94A3B8"/>
                </a:solidFill>
                <a:latin typeface="Aptos"/>
              </a:rPr>
              <a:t>04</a:t>
            </a:r>
            <a:endParaRPr lang="en-US" sz="1000"/>
          </a:p>
        </p:txBody>
      </p:sp>
      <p:sp>
        <p:nvSpPr>
          <p:cNvPr id="8" name="Footer Text 8"/>
          <p:cNvSpPr txBox="1"/>
          <p:nvPr/>
        </p:nvSpPr>
        <p:spPr>
          <a:xfrm>
            <a:off x="457200" y="6400800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000" dirty="0" smtClean="0">
                <a:solidFill>
                  <a:srgbClr val="94A3B8"/>
                </a:solidFill>
                <a:latin typeface="Aptos"/>
              </a:rPr>
              <a:t>Harbor AI Agent</a:t>
            </a:r>
            <a:endParaRPr lang="en-US" sz="1000"/>
          </a:p>
        </p:txBody>
      </p:sp>
      <p:sp>
        <p:nvSpPr>
          <p:cNvPr id="9" name="Service 9"/>
          <p:cNvSpPr/>
          <p:nvPr/>
        </p:nvSpPr>
        <p:spPr>
          <a:xfrm>
            <a:off x="548640" y="1828800"/>
            <a:ext cx="3063240" cy="1554480"/>
          </a:xfrm>
          <a:prstGeom prst="roundRect">
            <a:avLst/>
          </a:prstGeom>
          <a:solidFill>
            <a:srgbClr val="111C30"/>
          </a:solidFill>
          <a:ln w="12700" cap="flat" cmpd="sng" algn="ctr">
            <a:solidFill>
              <a:srgbClr val="23405D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Service Accent 10"/>
          <p:cNvSpPr/>
          <p:nvPr/>
        </p:nvSpPr>
        <p:spPr>
          <a:xfrm>
            <a:off x="548640" y="1828800"/>
            <a:ext cx="3063240" cy="73152"/>
          </a:xfrm>
          <a:prstGeom prst="rect">
            <a:avLst/>
          </a:prstGeom>
          <a:solidFill>
            <a:srgbClr val="35D0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ervice Title 11"/>
          <p:cNvSpPr txBox="1"/>
          <p:nvPr/>
        </p:nvSpPr>
        <p:spPr>
          <a:xfrm>
            <a:off x="685800" y="1947672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600" b="1" dirty="0" smtClean="0">
                <a:solidFill>
                  <a:srgbClr val="F8FAFC"/>
                </a:solidFill>
                <a:latin typeface="Aptos"/>
              </a:rPr>
              <a:t>harborUserSvc</a:t>
            </a:r>
            <a:endParaRPr lang="en-US" sz="1600"/>
          </a:p>
        </p:txBody>
      </p:sp>
      <p:sp>
        <p:nvSpPr>
          <p:cNvPr id="12" name="Service Sub 12"/>
          <p:cNvSpPr txBox="1"/>
          <p:nvPr/>
        </p:nvSpPr>
        <p:spPr>
          <a:xfrm>
            <a:off x="2697480" y="1956816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r"/>
            <a:r>
              <a:rPr lang="en-US" sz="900" b="1" dirty="0" smtClean="0">
                <a:solidFill>
                  <a:srgbClr val="35D0FF"/>
                </a:solidFill>
                <a:latin typeface="Aptos"/>
              </a:rPr>
              <a:t>Port 3001</a:t>
            </a:r>
            <a:endParaRPr lang="en-US" sz="900"/>
          </a:p>
        </p:txBody>
      </p:sp>
      <p:sp>
        <p:nvSpPr>
          <p:cNvPr id="13" name="Service Body 13"/>
          <p:cNvSpPr txBox="1"/>
          <p:nvPr/>
        </p:nvSpPr>
        <p:spPr>
          <a:xfrm>
            <a:off x="658368" y="2286000"/>
            <a:ext cx="2743200" cy="74980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 lvl="0" marL="342900" indent="-228600">
              <a:buChar char="•"/>
            </a:pPr>
            <a:r>
              <a:rPr lang="en-US" sz="1110" dirty="0" smtClean="0">
                <a:solidFill>
                  <a:srgbClr val="CBD5E1"/>
                </a:solidFill>
                <a:latin typeface="Aptos"/>
              </a:rPr>
              <a:t>User accounts and auth</a:t>
            </a:r>
            <a:endParaRPr lang="en-US" sz="1110"/>
          </a:p>
          <a:p>
            <a:pPr algn="l" lvl="0" marL="342900" indent="-228600">
              <a:buChar char="•"/>
            </a:pPr>
            <a:r>
              <a:rPr lang="en-US" sz="1110" dirty="0" smtClean="0">
                <a:solidFill>
                  <a:srgbClr val="CBD5E1"/>
                </a:solidFill>
                <a:latin typeface="Aptos"/>
              </a:rPr>
              <a:t>Profiles, payouts, community</a:t>
            </a:r>
            <a:endParaRPr lang="en-US" sz="1110"/>
          </a:p>
        </p:txBody>
      </p:sp>
      <p:sp>
        <p:nvSpPr>
          <p:cNvPr id="14" name="Service 14"/>
          <p:cNvSpPr/>
          <p:nvPr/>
        </p:nvSpPr>
        <p:spPr>
          <a:xfrm>
            <a:off x="4133087" y="1828800"/>
            <a:ext cx="3063240" cy="1554480"/>
          </a:xfrm>
          <a:prstGeom prst="roundRect">
            <a:avLst/>
          </a:prstGeom>
          <a:solidFill>
            <a:srgbClr val="111C30"/>
          </a:solidFill>
          <a:ln w="12700" cap="flat" cmpd="sng" algn="ctr">
            <a:solidFill>
              <a:srgbClr val="23405D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Service Accent 15"/>
          <p:cNvSpPr/>
          <p:nvPr/>
        </p:nvSpPr>
        <p:spPr>
          <a:xfrm>
            <a:off x="4133087" y="1828800"/>
            <a:ext cx="3063240" cy="73152"/>
          </a:xfrm>
          <a:prstGeom prst="rect">
            <a:avLst/>
          </a:prstGeom>
          <a:solidFill>
            <a:srgbClr val="35D0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Service Title 16"/>
          <p:cNvSpPr txBox="1"/>
          <p:nvPr/>
        </p:nvSpPr>
        <p:spPr>
          <a:xfrm>
            <a:off x="4270248" y="1947672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600" b="1" dirty="0" smtClean="0">
                <a:solidFill>
                  <a:srgbClr val="F8FAFC"/>
                </a:solidFill>
                <a:latin typeface="Aptos"/>
              </a:rPr>
              <a:t>harborJobSvc</a:t>
            </a:r>
            <a:endParaRPr lang="en-US" sz="1600"/>
          </a:p>
        </p:txBody>
      </p:sp>
      <p:sp>
        <p:nvSpPr>
          <p:cNvPr id="17" name="Service Sub 17"/>
          <p:cNvSpPr txBox="1"/>
          <p:nvPr/>
        </p:nvSpPr>
        <p:spPr>
          <a:xfrm>
            <a:off x="6281927" y="1956816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r"/>
            <a:r>
              <a:rPr lang="en-US" sz="900" b="1" dirty="0" smtClean="0">
                <a:solidFill>
                  <a:srgbClr val="35D0FF"/>
                </a:solidFill>
                <a:latin typeface="Aptos"/>
              </a:rPr>
              <a:t>Port 3004</a:t>
            </a:r>
            <a:endParaRPr lang="en-US" sz="900"/>
          </a:p>
        </p:txBody>
      </p:sp>
      <p:sp>
        <p:nvSpPr>
          <p:cNvPr id="18" name="Service Body 18"/>
          <p:cNvSpPr txBox="1"/>
          <p:nvPr/>
        </p:nvSpPr>
        <p:spPr>
          <a:xfrm>
            <a:off x="4242816" y="2286000"/>
            <a:ext cx="2743200" cy="74980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 lvl="0" marL="342900" indent="-228600">
              <a:buChar char="•"/>
            </a:pPr>
            <a:r>
              <a:rPr lang="en-US" sz="1110" dirty="0" smtClean="0">
                <a:solidFill>
                  <a:srgbClr val="CBD5E1"/>
                </a:solidFill>
                <a:latin typeface="Aptos"/>
              </a:rPr>
              <a:t>Job lifecycle and matching</a:t>
            </a:r>
            <a:endParaRPr lang="en-US" sz="1110"/>
          </a:p>
          <a:p>
            <a:pPr algn="l" lvl="0" marL="342900" indent="-228600">
              <a:buChar char="•"/>
            </a:pPr>
            <a:r>
              <a:rPr lang="en-US" sz="1110" dirty="0" smtClean="0">
                <a:solidFill>
                  <a:srgbClr val="CBD5E1"/>
                </a:solidFill>
                <a:latin typeface="Aptos"/>
              </a:rPr>
              <a:t>Escrow and ratings</a:t>
            </a:r>
            <a:endParaRPr lang="en-US" sz="1110"/>
          </a:p>
        </p:txBody>
      </p:sp>
      <p:sp>
        <p:nvSpPr>
          <p:cNvPr id="19" name="Service 19"/>
          <p:cNvSpPr/>
          <p:nvPr/>
        </p:nvSpPr>
        <p:spPr>
          <a:xfrm>
            <a:off x="7717536" y="1828800"/>
            <a:ext cx="3063240" cy="1554480"/>
          </a:xfrm>
          <a:prstGeom prst="roundRect">
            <a:avLst/>
          </a:prstGeom>
          <a:solidFill>
            <a:srgbClr val="111C30"/>
          </a:solidFill>
          <a:ln w="12700" cap="flat" cmpd="sng" algn="ctr">
            <a:solidFill>
              <a:srgbClr val="23405D"/>
            </a:solidFill>
            <a:prstDash val="solid"/>
          </a:ln>
        </p:spPr>
        <p:txBody>
          <a:bodyPr/>
          <a:lstStyle/>
          <a:p/>
        </p:txBody>
      </p:sp>
      <p:sp>
        <p:nvSpPr>
          <p:cNvPr id="20" name="Service Accent 20"/>
          <p:cNvSpPr/>
          <p:nvPr/>
        </p:nvSpPr>
        <p:spPr>
          <a:xfrm>
            <a:off x="7717536" y="1828800"/>
            <a:ext cx="3063240" cy="73152"/>
          </a:xfrm>
          <a:prstGeom prst="rect">
            <a:avLst/>
          </a:prstGeom>
          <a:solidFill>
            <a:srgbClr val="35D0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ervice Title 21"/>
          <p:cNvSpPr txBox="1"/>
          <p:nvPr/>
        </p:nvSpPr>
        <p:spPr>
          <a:xfrm>
            <a:off x="7854696" y="1947672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600" b="1" dirty="0" smtClean="0">
                <a:solidFill>
                  <a:srgbClr val="F8FAFC"/>
                </a:solidFill>
                <a:latin typeface="Aptos"/>
              </a:rPr>
              <a:t>harborNotificationSvc</a:t>
            </a:r>
            <a:endParaRPr lang="en-US" sz="1600"/>
          </a:p>
        </p:txBody>
      </p:sp>
      <p:sp>
        <p:nvSpPr>
          <p:cNvPr id="22" name="Service Sub 22"/>
          <p:cNvSpPr txBox="1"/>
          <p:nvPr/>
        </p:nvSpPr>
        <p:spPr>
          <a:xfrm>
            <a:off x="9866376" y="1956816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r"/>
            <a:r>
              <a:rPr lang="en-US" sz="900" b="1" dirty="0" smtClean="0">
                <a:solidFill>
                  <a:srgbClr val="35D0FF"/>
                </a:solidFill>
                <a:latin typeface="Aptos"/>
              </a:rPr>
              <a:t>Port 3003</a:t>
            </a:r>
            <a:endParaRPr lang="en-US" sz="900"/>
          </a:p>
        </p:txBody>
      </p:sp>
      <p:sp>
        <p:nvSpPr>
          <p:cNvPr id="23" name="Service Body 23"/>
          <p:cNvSpPr txBox="1"/>
          <p:nvPr/>
        </p:nvSpPr>
        <p:spPr>
          <a:xfrm>
            <a:off x="7827263" y="2286000"/>
            <a:ext cx="2743200" cy="74980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 lvl="0" marL="342900" indent="-228600">
              <a:buChar char="•"/>
            </a:pPr>
            <a:r>
              <a:rPr lang="en-US" sz="1110" dirty="0" smtClean="0">
                <a:solidFill>
                  <a:srgbClr val="CBD5E1"/>
                </a:solidFill>
                <a:latin typeface="Aptos"/>
              </a:rPr>
              <a:t>Push, email, SMS delivery</a:t>
            </a:r>
            <a:endParaRPr lang="en-US" sz="1110"/>
          </a:p>
          <a:p>
            <a:pPr algn="l" lvl="0" marL="342900" indent="-228600">
              <a:buChar char="•"/>
            </a:pPr>
            <a:r>
              <a:rPr lang="en-US" sz="1110" dirty="0" smtClean="0">
                <a:solidFill>
                  <a:srgbClr val="CBD5E1"/>
                </a:solidFill>
                <a:latin typeface="Aptos"/>
              </a:rPr>
              <a:t>Preferences and history</a:t>
            </a:r>
            <a:endParaRPr lang="en-US" sz="1110"/>
          </a:p>
        </p:txBody>
      </p:sp>
      <p:sp>
        <p:nvSpPr>
          <p:cNvPr id="24" name="Service 24"/>
          <p:cNvSpPr/>
          <p:nvPr/>
        </p:nvSpPr>
        <p:spPr>
          <a:xfrm>
            <a:off x="548640" y="3749039"/>
            <a:ext cx="3063240" cy="1554480"/>
          </a:xfrm>
          <a:prstGeom prst="roundRect">
            <a:avLst/>
          </a:prstGeom>
          <a:solidFill>
            <a:srgbClr val="111C30"/>
          </a:solidFill>
          <a:ln w="12700" cap="flat" cmpd="sng" algn="ctr">
            <a:solidFill>
              <a:srgbClr val="23405D"/>
            </a:solidFill>
            <a:prstDash val="solid"/>
          </a:ln>
        </p:spPr>
        <p:txBody>
          <a:bodyPr/>
          <a:lstStyle/>
          <a:p/>
        </p:txBody>
      </p:sp>
      <p:sp>
        <p:nvSpPr>
          <p:cNvPr id="25" name="Service Accent 25"/>
          <p:cNvSpPr/>
          <p:nvPr/>
        </p:nvSpPr>
        <p:spPr>
          <a:xfrm>
            <a:off x="548640" y="3749039"/>
            <a:ext cx="3063240" cy="73152"/>
          </a:xfrm>
          <a:prstGeom prst="rect">
            <a:avLst/>
          </a:prstGeom>
          <a:solidFill>
            <a:srgbClr val="35D0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Service Title 26"/>
          <p:cNvSpPr txBox="1"/>
          <p:nvPr/>
        </p:nvSpPr>
        <p:spPr>
          <a:xfrm>
            <a:off x="685800" y="3867911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600" b="1" dirty="0" smtClean="0">
                <a:solidFill>
                  <a:srgbClr val="F8FAFC"/>
                </a:solidFill>
                <a:latin typeface="Aptos"/>
              </a:rPr>
              <a:t>harborSocketSvc</a:t>
            </a:r>
            <a:endParaRPr lang="en-US" sz="1600"/>
          </a:p>
        </p:txBody>
      </p:sp>
      <p:sp>
        <p:nvSpPr>
          <p:cNvPr id="27" name="Service Sub 27"/>
          <p:cNvSpPr txBox="1"/>
          <p:nvPr/>
        </p:nvSpPr>
        <p:spPr>
          <a:xfrm>
            <a:off x="2697480" y="3877055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r"/>
            <a:r>
              <a:rPr lang="en-US" sz="900" b="1" dirty="0" smtClean="0">
                <a:solidFill>
                  <a:srgbClr val="35D0FF"/>
                </a:solidFill>
                <a:latin typeface="Aptos"/>
              </a:rPr>
              <a:t>Real-time</a:t>
            </a:r>
            <a:endParaRPr lang="en-US" sz="900"/>
          </a:p>
        </p:txBody>
      </p:sp>
      <p:sp>
        <p:nvSpPr>
          <p:cNvPr id="28" name="Service Body 28"/>
          <p:cNvSpPr txBox="1"/>
          <p:nvPr/>
        </p:nvSpPr>
        <p:spPr>
          <a:xfrm>
            <a:off x="658368" y="4206240"/>
            <a:ext cx="2743200" cy="74980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 lvl="0" marL="342900" indent="-228600">
              <a:buChar char="•"/>
            </a:pPr>
            <a:r>
              <a:rPr lang="en-US" sz="1110" dirty="0" smtClean="0">
                <a:solidFill>
                  <a:srgbClr val="CBD5E1"/>
                </a:solidFill>
                <a:latin typeface="Aptos"/>
              </a:rPr>
              <a:t>WebSocket communication</a:t>
            </a:r>
            <a:endParaRPr lang="en-US" sz="1110"/>
          </a:p>
          <a:p>
            <a:pPr algn="l" lvl="0" marL="342900" indent="-228600">
              <a:buChar char="•"/>
            </a:pPr>
            <a:r>
              <a:rPr lang="en-US" sz="1110" dirty="0" smtClean="0">
                <a:solidFill>
                  <a:srgbClr val="CBD5E1"/>
                </a:solidFill>
                <a:latin typeface="Aptos"/>
              </a:rPr>
              <a:t>Messaging and presence</a:t>
            </a:r>
            <a:endParaRPr lang="en-US" sz="1110"/>
          </a:p>
        </p:txBody>
      </p:sp>
      <p:sp>
        <p:nvSpPr>
          <p:cNvPr id="29" name="Service 29"/>
          <p:cNvSpPr/>
          <p:nvPr/>
        </p:nvSpPr>
        <p:spPr>
          <a:xfrm>
            <a:off x="4133087" y="3749039"/>
            <a:ext cx="3063240" cy="1554480"/>
          </a:xfrm>
          <a:prstGeom prst="roundRect">
            <a:avLst/>
          </a:prstGeom>
          <a:solidFill>
            <a:srgbClr val="111C30"/>
          </a:solidFill>
          <a:ln w="12700" cap="flat" cmpd="sng" algn="ctr">
            <a:solidFill>
              <a:srgbClr val="23405D"/>
            </a:solidFill>
            <a:prstDash val="solid"/>
          </a:ln>
        </p:spPr>
        <p:txBody>
          <a:bodyPr/>
          <a:lstStyle/>
          <a:p/>
        </p:txBody>
      </p:sp>
      <p:sp>
        <p:nvSpPr>
          <p:cNvPr id="30" name="Service Accent 30"/>
          <p:cNvSpPr/>
          <p:nvPr/>
        </p:nvSpPr>
        <p:spPr>
          <a:xfrm>
            <a:off x="4133087" y="3749039"/>
            <a:ext cx="3063240" cy="73152"/>
          </a:xfrm>
          <a:prstGeom prst="rect">
            <a:avLst/>
          </a:prstGeom>
          <a:solidFill>
            <a:srgbClr val="35D0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ervice Title 31"/>
          <p:cNvSpPr txBox="1"/>
          <p:nvPr/>
        </p:nvSpPr>
        <p:spPr>
          <a:xfrm>
            <a:off x="4270248" y="3867911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600" b="1" dirty="0" smtClean="0">
                <a:solidFill>
                  <a:srgbClr val="F8FAFC"/>
                </a:solidFill>
                <a:latin typeface="Aptos"/>
              </a:rPr>
              <a:t>harborGateway</a:t>
            </a:r>
            <a:endParaRPr lang="en-US" sz="1600"/>
          </a:p>
        </p:txBody>
      </p:sp>
      <p:sp>
        <p:nvSpPr>
          <p:cNvPr id="32" name="Service Sub 32"/>
          <p:cNvSpPr txBox="1"/>
          <p:nvPr/>
        </p:nvSpPr>
        <p:spPr>
          <a:xfrm>
            <a:off x="6281927" y="3877055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r"/>
            <a:r>
              <a:rPr lang="en-US" sz="900" b="1" dirty="0" smtClean="0">
                <a:solidFill>
                  <a:srgbClr val="35D0FF"/>
                </a:solidFill>
                <a:latin typeface="Aptos"/>
              </a:rPr>
              <a:t>Port 7000</a:t>
            </a:r>
            <a:endParaRPr lang="en-US" sz="900"/>
          </a:p>
        </p:txBody>
      </p:sp>
      <p:sp>
        <p:nvSpPr>
          <p:cNvPr id="33" name="Service Body 33"/>
          <p:cNvSpPr txBox="1"/>
          <p:nvPr/>
        </p:nvSpPr>
        <p:spPr>
          <a:xfrm>
            <a:off x="4242816" y="4206240"/>
            <a:ext cx="2743200" cy="74980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 lvl="0" marL="342900" indent="-228600">
              <a:buChar char="•"/>
            </a:pPr>
            <a:r>
              <a:rPr lang="en-US" sz="1110" dirty="0" smtClean="0">
                <a:solidFill>
                  <a:srgbClr val="CBD5E1"/>
                </a:solidFill>
                <a:latin typeface="Aptos"/>
              </a:rPr>
              <a:t>Single request entry point</a:t>
            </a:r>
            <a:endParaRPr lang="en-US" sz="1110"/>
          </a:p>
          <a:p>
            <a:pPr algn="l" lvl="0" marL="342900" indent="-228600">
              <a:buChar char="•"/>
            </a:pPr>
            <a:r>
              <a:rPr lang="en-US" sz="1110" dirty="0" smtClean="0">
                <a:solidFill>
                  <a:srgbClr val="CBD5E1"/>
                </a:solidFill>
                <a:latin typeface="Aptos"/>
              </a:rPr>
              <a:t>Auth and service routing</a:t>
            </a:r>
            <a:endParaRPr lang="en-US" sz="1110"/>
          </a:p>
        </p:txBody>
      </p:sp>
      <p:sp>
        <p:nvSpPr>
          <p:cNvPr id="34" name="Service 34"/>
          <p:cNvSpPr/>
          <p:nvPr/>
        </p:nvSpPr>
        <p:spPr>
          <a:xfrm>
            <a:off x="7717536" y="3749039"/>
            <a:ext cx="3063240" cy="1554480"/>
          </a:xfrm>
          <a:prstGeom prst="roundRect">
            <a:avLst/>
          </a:prstGeom>
          <a:solidFill>
            <a:srgbClr val="111C30"/>
          </a:solidFill>
          <a:ln w="12700" cap="flat" cmpd="sng" algn="ctr">
            <a:solidFill>
              <a:srgbClr val="23405D"/>
            </a:solidFill>
            <a:prstDash val="solid"/>
          </a:ln>
        </p:spPr>
        <p:txBody>
          <a:bodyPr/>
          <a:lstStyle/>
          <a:p/>
        </p:txBody>
      </p:sp>
      <p:sp>
        <p:nvSpPr>
          <p:cNvPr id="35" name="Service Accent 35"/>
          <p:cNvSpPr/>
          <p:nvPr/>
        </p:nvSpPr>
        <p:spPr>
          <a:xfrm>
            <a:off x="7717536" y="3749039"/>
            <a:ext cx="3063240" cy="73152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Service Title 36"/>
          <p:cNvSpPr txBox="1"/>
          <p:nvPr/>
        </p:nvSpPr>
        <p:spPr>
          <a:xfrm>
            <a:off x="7854696" y="3867911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600" b="1" dirty="0" smtClean="0">
                <a:solidFill>
                  <a:srgbClr val="F8FAFC"/>
                </a:solidFill>
                <a:latin typeface="Aptos"/>
              </a:rPr>
              <a:t>harborSharedModels</a:t>
            </a:r>
            <a:endParaRPr lang="en-US" sz="1600"/>
          </a:p>
        </p:txBody>
      </p:sp>
      <p:sp>
        <p:nvSpPr>
          <p:cNvPr id="37" name="Service Sub 37"/>
          <p:cNvSpPr txBox="1"/>
          <p:nvPr/>
        </p:nvSpPr>
        <p:spPr>
          <a:xfrm>
            <a:off x="9866376" y="3877055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r"/>
            <a:r>
              <a:rPr lang="en-US" sz="900" b="1" dirty="0" smtClean="0">
                <a:solidFill>
                  <a:srgbClr val="F5B942"/>
                </a:solidFill>
                <a:latin typeface="Aptos"/>
              </a:rPr>
              <a:t>Shared library</a:t>
            </a:r>
            <a:endParaRPr lang="en-US" sz="900"/>
          </a:p>
        </p:txBody>
      </p:sp>
      <p:sp>
        <p:nvSpPr>
          <p:cNvPr id="38" name="Service Body 38"/>
          <p:cNvSpPr txBox="1"/>
          <p:nvPr/>
        </p:nvSpPr>
        <p:spPr>
          <a:xfrm>
            <a:off x="7827263" y="4206240"/>
            <a:ext cx="2743200" cy="74980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 lvl="0" marL="342900" indent="-228600">
              <a:buChar char="•"/>
            </a:pPr>
            <a:r>
              <a:rPr lang="en-US" sz="1110" dirty="0" smtClean="0">
                <a:solidFill>
                  <a:srgbClr val="CBD5E1"/>
                </a:solidFill>
                <a:latin typeface="Aptos"/>
              </a:rPr>
              <a:t>Type-safe models for all services</a:t>
            </a:r>
            <a:endParaRPr lang="en-US" sz="1110"/>
          </a:p>
          <a:p>
            <a:pPr algn="l" lvl="0" marL="342900" indent="-228600">
              <a:buChar char="•"/>
            </a:pPr>
            <a:r>
              <a:rPr lang="en-US" sz="1110" dirty="0" smtClean="0">
                <a:solidFill>
                  <a:srgbClr val="CBD5E1"/>
                </a:solidFill>
                <a:latin typeface="Aptos"/>
              </a:rPr>
              <a:t>Special versioning workflow</a:t>
            </a:r>
            <a:endParaRPr lang="en-US" sz="111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orkflow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5D0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ection Pill 3"/>
          <p:cNvSpPr/>
          <p:nvPr/>
        </p:nvSpPr>
        <p:spPr>
          <a:xfrm>
            <a:off x="384048" y="384048"/>
            <a:ext cx="1965960" cy="329184"/>
          </a:xfrm>
          <a:prstGeom prst="roundRect">
            <a:avLst/>
          </a:prstGeom>
          <a:solidFill>
            <a:srgbClr val="16243B"/>
          </a:solidFill>
          <a:ln w="12700" cap="flat" cmpd="sng" algn="ctr">
            <a:solidFill>
              <a:srgbClr val="35D0FF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Section Text 4"/>
          <p:cNvSpPr txBox="1"/>
          <p:nvPr/>
        </p:nvSpPr>
        <p:spPr>
          <a:xfrm>
            <a:off x="502920" y="420624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950" b="1" dirty="0" smtClean="0">
                <a:solidFill>
                  <a:srgbClr val="35D0FF"/>
                </a:solidFill>
                <a:latin typeface="Aptos"/>
              </a:rPr>
              <a:t>03 WORKFLOW</a:t>
            </a:r>
            <a:endParaRPr lang="en-US" sz="950"/>
          </a:p>
        </p:txBody>
      </p:sp>
      <p:sp>
        <p:nvSpPr>
          <p:cNvPr id="5" name="Title 5"/>
          <p:cNvSpPr txBox="1"/>
          <p:nvPr/>
        </p:nvSpPr>
        <p:spPr>
          <a:xfrm>
            <a:off x="493776" y="868680"/>
            <a:ext cx="7955279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2600" b="1" dirty="0" smtClean="0">
                <a:solidFill>
                  <a:srgbClr val="F8FAFC"/>
                </a:solidFill>
                <a:latin typeface="Aptos"/>
              </a:rPr>
              <a:t>11-Phase Delivery Lifecycle</a:t>
            </a:r>
            <a:endParaRPr lang="en-US" sz="2600"/>
          </a:p>
        </p:txBody>
      </p:sp>
      <p:sp>
        <p:nvSpPr>
          <p:cNvPr id="6" name="Subtitle 6"/>
          <p:cNvSpPr txBox="1"/>
          <p:nvPr/>
        </p:nvSpPr>
        <p:spPr>
          <a:xfrm>
            <a:off x="512064" y="1371600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180" dirty="0" smtClean="0">
                <a:solidFill>
                  <a:srgbClr val="94A3B8"/>
                </a:solidFill>
                <a:latin typeface="Aptos"/>
              </a:rPr>
              <a:t>The agent cycles continuously until work is exhausted or it hits a blocking condition.</a:t>
            </a:r>
            <a:endParaRPr lang="en-US" sz="1180"/>
          </a:p>
        </p:txBody>
      </p:sp>
      <p:sp>
        <p:nvSpPr>
          <p:cNvPr id="7" name="Footer No 7"/>
          <p:cNvSpPr txBox="1"/>
          <p:nvPr/>
        </p:nvSpPr>
        <p:spPr>
          <a:xfrm>
            <a:off x="10881360" y="640080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r"/>
            <a:r>
              <a:rPr lang="en-US" sz="1000" b="1" dirty="0" smtClean="0">
                <a:solidFill>
                  <a:srgbClr val="94A3B8"/>
                </a:solidFill>
                <a:latin typeface="Aptos"/>
              </a:rPr>
              <a:t>05</a:t>
            </a:r>
            <a:endParaRPr lang="en-US" sz="1000"/>
          </a:p>
        </p:txBody>
      </p:sp>
      <p:sp>
        <p:nvSpPr>
          <p:cNvPr id="8" name="Footer Text 8"/>
          <p:cNvSpPr txBox="1"/>
          <p:nvPr/>
        </p:nvSpPr>
        <p:spPr>
          <a:xfrm>
            <a:off x="457200" y="6400800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000" dirty="0" smtClean="0">
                <a:solidFill>
                  <a:srgbClr val="94A3B8"/>
                </a:solidFill>
                <a:latin typeface="Aptos"/>
              </a:rPr>
              <a:t>Harbor AI Agent</a:t>
            </a:r>
            <a:endParaRPr lang="en-US" sz="1000"/>
          </a:p>
        </p:txBody>
      </p:sp>
      <p:sp>
        <p:nvSpPr>
          <p:cNvPr id="9" name="Phase 9"/>
          <p:cNvSpPr/>
          <p:nvPr/>
        </p:nvSpPr>
        <p:spPr>
          <a:xfrm>
            <a:off x="594360" y="1920240"/>
            <a:ext cx="1783080" cy="1051560"/>
          </a:xfrm>
          <a:prstGeom prst="roundRect">
            <a:avLst/>
          </a:prstGeom>
          <a:solidFill>
            <a:srgbClr val="111C30"/>
          </a:solidFill>
          <a:ln w="12700" cap="flat" cmpd="sng" algn="ctr">
            <a:solidFill>
              <a:srgbClr val="23405D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Phase Accent 10"/>
          <p:cNvSpPr/>
          <p:nvPr/>
        </p:nvSpPr>
        <p:spPr>
          <a:xfrm>
            <a:off x="594360" y="1920240"/>
            <a:ext cx="1783080" cy="73152"/>
          </a:xfrm>
          <a:prstGeom prst="rect">
            <a:avLst/>
          </a:prstGeom>
          <a:solidFill>
            <a:srgbClr val="35D0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Phase Text 11"/>
          <p:cNvSpPr txBox="1"/>
          <p:nvPr/>
        </p:nvSpPr>
        <p:spPr>
          <a:xfrm>
            <a:off x="685800" y="2157984"/>
            <a:ext cx="160020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ctr"/>
            <a:r>
              <a:rPr lang="en-US" sz="1320" b="1" dirty="0" smtClean="0">
                <a:solidFill>
                  <a:srgbClr val="F8FAFC"/>
                </a:solidFill>
                <a:latin typeface="Aptos"/>
              </a:rPr>
              <a:t>1 Startup</a:t>
            </a:r>
            <a:endParaRPr lang="en-US" sz="1320"/>
          </a:p>
        </p:txBody>
      </p:sp>
      <p:sp>
        <p:nvSpPr>
          <p:cNvPr id="12" name="Phase 12"/>
          <p:cNvSpPr/>
          <p:nvPr/>
        </p:nvSpPr>
        <p:spPr>
          <a:xfrm>
            <a:off x="2697480" y="1920240"/>
            <a:ext cx="1783080" cy="1051560"/>
          </a:xfrm>
          <a:prstGeom prst="roundRect">
            <a:avLst/>
          </a:prstGeom>
          <a:solidFill>
            <a:srgbClr val="111C30"/>
          </a:solidFill>
          <a:ln w="12700" cap="flat" cmpd="sng" algn="ctr">
            <a:solidFill>
              <a:srgbClr val="23405D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Phase Accent 13"/>
          <p:cNvSpPr/>
          <p:nvPr/>
        </p:nvSpPr>
        <p:spPr>
          <a:xfrm>
            <a:off x="2697480" y="1920240"/>
            <a:ext cx="1783080" cy="73152"/>
          </a:xfrm>
          <a:prstGeom prst="rect">
            <a:avLst/>
          </a:prstGeom>
          <a:solidFill>
            <a:srgbClr val="35D0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Phase Text 14"/>
          <p:cNvSpPr txBox="1"/>
          <p:nvPr/>
        </p:nvSpPr>
        <p:spPr>
          <a:xfrm>
            <a:off x="2788920" y="2157984"/>
            <a:ext cx="160020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ctr"/>
            <a:r>
              <a:rPr lang="en-US" sz="1320" b="1" dirty="0" smtClean="0">
                <a:solidFill>
                  <a:srgbClr val="F8FAFC"/>
                </a:solidFill>
                <a:latin typeface="Aptos"/>
              </a:rPr>
              <a:t>2 Intake</a:t>
            </a:r>
            <a:endParaRPr lang="en-US" sz="1320"/>
          </a:p>
        </p:txBody>
      </p:sp>
      <p:sp>
        <p:nvSpPr>
          <p:cNvPr id="15" name="Phase 15"/>
          <p:cNvSpPr/>
          <p:nvPr/>
        </p:nvSpPr>
        <p:spPr>
          <a:xfrm>
            <a:off x="4800600" y="1920240"/>
            <a:ext cx="1783080" cy="1051560"/>
          </a:xfrm>
          <a:prstGeom prst="roundRect">
            <a:avLst/>
          </a:prstGeom>
          <a:solidFill>
            <a:srgbClr val="111C30"/>
          </a:solidFill>
          <a:ln w="12700" cap="flat" cmpd="sng" algn="ctr">
            <a:solidFill>
              <a:srgbClr val="23405D"/>
            </a:solidFill>
            <a:prstDash val="solid"/>
          </a:ln>
        </p:spPr>
        <p:txBody>
          <a:bodyPr/>
          <a:lstStyle/>
          <a:p/>
        </p:txBody>
      </p:sp>
      <p:sp>
        <p:nvSpPr>
          <p:cNvPr id="16" name="Phase Accent 16"/>
          <p:cNvSpPr/>
          <p:nvPr/>
        </p:nvSpPr>
        <p:spPr>
          <a:xfrm>
            <a:off x="4800600" y="1920240"/>
            <a:ext cx="1783080" cy="73152"/>
          </a:xfrm>
          <a:prstGeom prst="rect">
            <a:avLst/>
          </a:prstGeom>
          <a:solidFill>
            <a:srgbClr val="35D0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Phase Text 17"/>
          <p:cNvSpPr txBox="1"/>
          <p:nvPr/>
        </p:nvSpPr>
        <p:spPr>
          <a:xfrm>
            <a:off x="4892040" y="2157984"/>
            <a:ext cx="160020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ctr"/>
            <a:r>
              <a:rPr lang="en-US" sz="1320" b="1" dirty="0" smtClean="0">
                <a:solidFill>
                  <a:srgbClr val="F8FAFC"/>
                </a:solidFill>
                <a:latin typeface="Aptos"/>
              </a:rPr>
              <a:t>3 Understand</a:t>
            </a:r>
            <a:endParaRPr lang="en-US" sz="1320"/>
          </a:p>
        </p:txBody>
      </p:sp>
      <p:sp>
        <p:nvSpPr>
          <p:cNvPr id="18" name="Phase 18"/>
          <p:cNvSpPr/>
          <p:nvPr/>
        </p:nvSpPr>
        <p:spPr>
          <a:xfrm>
            <a:off x="6903720" y="1920240"/>
            <a:ext cx="1783080" cy="1051560"/>
          </a:xfrm>
          <a:prstGeom prst="roundRect">
            <a:avLst/>
          </a:prstGeom>
          <a:solidFill>
            <a:srgbClr val="111C30"/>
          </a:solidFill>
          <a:ln w="12700" cap="flat" cmpd="sng" algn="ctr">
            <a:solidFill>
              <a:srgbClr val="23405D"/>
            </a:solidFill>
            <a:prstDash val="solid"/>
          </a:ln>
        </p:spPr>
        <p:txBody>
          <a:bodyPr/>
          <a:lstStyle/>
          <a:p/>
        </p:txBody>
      </p:sp>
      <p:sp>
        <p:nvSpPr>
          <p:cNvPr id="19" name="Phase Accent 19"/>
          <p:cNvSpPr/>
          <p:nvPr/>
        </p:nvSpPr>
        <p:spPr>
          <a:xfrm>
            <a:off x="6903720" y="1920240"/>
            <a:ext cx="1783080" cy="73152"/>
          </a:xfrm>
          <a:prstGeom prst="rect">
            <a:avLst/>
          </a:prstGeom>
          <a:solidFill>
            <a:srgbClr val="35D0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Phase Text 20"/>
          <p:cNvSpPr txBox="1"/>
          <p:nvPr/>
        </p:nvSpPr>
        <p:spPr>
          <a:xfrm>
            <a:off x="6995159" y="2157984"/>
            <a:ext cx="160020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ctr"/>
            <a:r>
              <a:rPr lang="en-US" sz="1320" b="1" dirty="0" smtClean="0">
                <a:solidFill>
                  <a:srgbClr val="F8FAFC"/>
                </a:solidFill>
                <a:latin typeface="Aptos"/>
              </a:rPr>
              <a:t>4 Plan</a:t>
            </a:r>
            <a:endParaRPr lang="en-US" sz="1320"/>
          </a:p>
        </p:txBody>
      </p:sp>
      <p:sp>
        <p:nvSpPr>
          <p:cNvPr id="21" name="Phase 21"/>
          <p:cNvSpPr/>
          <p:nvPr/>
        </p:nvSpPr>
        <p:spPr>
          <a:xfrm>
            <a:off x="9006840" y="1920240"/>
            <a:ext cx="1783080" cy="1051560"/>
          </a:xfrm>
          <a:prstGeom prst="roundRect">
            <a:avLst/>
          </a:prstGeom>
          <a:solidFill>
            <a:srgbClr val="111C30"/>
          </a:solidFill>
          <a:ln w="12700" cap="flat" cmpd="sng" algn="ctr">
            <a:solidFill>
              <a:srgbClr val="23405D"/>
            </a:solidFill>
            <a:prstDash val="solid"/>
          </a:ln>
        </p:spPr>
        <p:txBody>
          <a:bodyPr/>
          <a:lstStyle/>
          <a:p/>
        </p:txBody>
      </p:sp>
      <p:sp>
        <p:nvSpPr>
          <p:cNvPr id="22" name="Phase Accent 22"/>
          <p:cNvSpPr/>
          <p:nvPr/>
        </p:nvSpPr>
        <p:spPr>
          <a:xfrm>
            <a:off x="9006840" y="1920240"/>
            <a:ext cx="1783080" cy="73152"/>
          </a:xfrm>
          <a:prstGeom prst="rect">
            <a:avLst/>
          </a:prstGeom>
          <a:solidFill>
            <a:srgbClr val="35D0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Phase Text 23"/>
          <p:cNvSpPr txBox="1"/>
          <p:nvPr/>
        </p:nvSpPr>
        <p:spPr>
          <a:xfrm>
            <a:off x="9098280" y="2157984"/>
            <a:ext cx="160020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ctr"/>
            <a:r>
              <a:rPr lang="en-US" sz="1320" b="1" dirty="0" smtClean="0">
                <a:solidFill>
                  <a:srgbClr val="F8FAFC"/>
                </a:solidFill>
                <a:latin typeface="Aptos"/>
              </a:rPr>
              <a:t>5 Build</a:t>
            </a:r>
            <a:endParaRPr lang="en-US" sz="1320"/>
          </a:p>
        </p:txBody>
      </p:sp>
      <p:sp>
        <p:nvSpPr>
          <p:cNvPr id="24" name="Phase 24"/>
          <p:cNvSpPr/>
          <p:nvPr/>
        </p:nvSpPr>
        <p:spPr>
          <a:xfrm>
            <a:off x="594360" y="3794760"/>
            <a:ext cx="1783080" cy="1051560"/>
          </a:xfrm>
          <a:prstGeom prst="roundRect">
            <a:avLst/>
          </a:prstGeom>
          <a:solidFill>
            <a:srgbClr val="111C30"/>
          </a:solidFill>
          <a:ln w="12700" cap="flat" cmpd="sng" algn="ctr">
            <a:solidFill>
              <a:srgbClr val="23405D"/>
            </a:solidFill>
            <a:prstDash val="solid"/>
          </a:ln>
        </p:spPr>
        <p:txBody>
          <a:bodyPr/>
          <a:lstStyle/>
          <a:p/>
        </p:txBody>
      </p:sp>
      <p:sp>
        <p:nvSpPr>
          <p:cNvPr id="25" name="Phase Accent 25"/>
          <p:cNvSpPr/>
          <p:nvPr/>
        </p:nvSpPr>
        <p:spPr>
          <a:xfrm>
            <a:off x="594360" y="3794760"/>
            <a:ext cx="178308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Phase Text 26"/>
          <p:cNvSpPr txBox="1"/>
          <p:nvPr/>
        </p:nvSpPr>
        <p:spPr>
          <a:xfrm>
            <a:off x="685800" y="4032504"/>
            <a:ext cx="160020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ctr"/>
            <a:r>
              <a:rPr lang="en-US" sz="1320" b="1" dirty="0" smtClean="0">
                <a:solidFill>
                  <a:srgbClr val="F8FAFC"/>
                </a:solidFill>
                <a:latin typeface="Aptos"/>
              </a:rPr>
              <a:t>6 Shared Models</a:t>
            </a:r>
            <a:endParaRPr lang="en-US" sz="1320"/>
          </a:p>
        </p:txBody>
      </p:sp>
      <p:sp>
        <p:nvSpPr>
          <p:cNvPr id="27" name="Phase 27"/>
          <p:cNvSpPr/>
          <p:nvPr/>
        </p:nvSpPr>
        <p:spPr>
          <a:xfrm>
            <a:off x="2697480" y="3794760"/>
            <a:ext cx="1783080" cy="1051560"/>
          </a:xfrm>
          <a:prstGeom prst="roundRect">
            <a:avLst/>
          </a:prstGeom>
          <a:solidFill>
            <a:srgbClr val="111C30"/>
          </a:solidFill>
          <a:ln w="12700" cap="flat" cmpd="sng" algn="ctr">
            <a:solidFill>
              <a:srgbClr val="23405D"/>
            </a:solidFill>
            <a:prstDash val="solid"/>
          </a:ln>
        </p:spPr>
        <p:txBody>
          <a:bodyPr/>
          <a:lstStyle/>
          <a:p/>
        </p:txBody>
      </p:sp>
      <p:sp>
        <p:nvSpPr>
          <p:cNvPr id="28" name="Phase Accent 28"/>
          <p:cNvSpPr/>
          <p:nvPr/>
        </p:nvSpPr>
        <p:spPr>
          <a:xfrm>
            <a:off x="2697480" y="3794760"/>
            <a:ext cx="178308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Phase Text 29"/>
          <p:cNvSpPr txBox="1"/>
          <p:nvPr/>
        </p:nvSpPr>
        <p:spPr>
          <a:xfrm>
            <a:off x="2788920" y="4032504"/>
            <a:ext cx="160020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ctr"/>
            <a:r>
              <a:rPr lang="en-US" sz="1320" b="1" dirty="0" smtClean="0">
                <a:solidFill>
                  <a:srgbClr val="F8FAFC"/>
                </a:solidFill>
                <a:latin typeface="Aptos"/>
              </a:rPr>
              <a:t>7 Validate</a:t>
            </a:r>
            <a:endParaRPr lang="en-US" sz="1320"/>
          </a:p>
        </p:txBody>
      </p:sp>
      <p:sp>
        <p:nvSpPr>
          <p:cNvPr id="30" name="Phase 30"/>
          <p:cNvSpPr/>
          <p:nvPr/>
        </p:nvSpPr>
        <p:spPr>
          <a:xfrm>
            <a:off x="4800600" y="3794760"/>
            <a:ext cx="1783080" cy="1051560"/>
          </a:xfrm>
          <a:prstGeom prst="roundRect">
            <a:avLst/>
          </a:prstGeom>
          <a:solidFill>
            <a:srgbClr val="111C30"/>
          </a:solidFill>
          <a:ln w="12700" cap="flat" cmpd="sng" algn="ctr">
            <a:solidFill>
              <a:srgbClr val="23405D"/>
            </a:solidFill>
            <a:prstDash val="solid"/>
          </a:ln>
        </p:spPr>
        <p:txBody>
          <a:bodyPr/>
          <a:lstStyle/>
          <a:p/>
        </p:txBody>
      </p:sp>
      <p:sp>
        <p:nvSpPr>
          <p:cNvPr id="31" name="Phase Accent 31"/>
          <p:cNvSpPr/>
          <p:nvPr/>
        </p:nvSpPr>
        <p:spPr>
          <a:xfrm>
            <a:off x="4800600" y="3794760"/>
            <a:ext cx="178308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Phase Text 32"/>
          <p:cNvSpPr txBox="1"/>
          <p:nvPr/>
        </p:nvSpPr>
        <p:spPr>
          <a:xfrm>
            <a:off x="4892040" y="4032504"/>
            <a:ext cx="160020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ctr"/>
            <a:r>
              <a:rPr lang="en-US" sz="1320" b="1" dirty="0" smtClean="0">
                <a:solidFill>
                  <a:srgbClr val="F8FAFC"/>
                </a:solidFill>
                <a:latin typeface="Aptos"/>
              </a:rPr>
              <a:t>8 Git</a:t>
            </a:r>
            <a:endParaRPr lang="en-US" sz="1320"/>
          </a:p>
        </p:txBody>
      </p:sp>
      <p:sp>
        <p:nvSpPr>
          <p:cNvPr id="33" name="Phase 33"/>
          <p:cNvSpPr/>
          <p:nvPr/>
        </p:nvSpPr>
        <p:spPr>
          <a:xfrm>
            <a:off x="6903720" y="3794760"/>
            <a:ext cx="1783080" cy="1051560"/>
          </a:xfrm>
          <a:prstGeom prst="roundRect">
            <a:avLst/>
          </a:prstGeom>
          <a:solidFill>
            <a:srgbClr val="111C30"/>
          </a:solidFill>
          <a:ln w="12700" cap="flat" cmpd="sng" algn="ctr">
            <a:solidFill>
              <a:srgbClr val="23405D"/>
            </a:solidFill>
            <a:prstDash val="solid"/>
          </a:ln>
        </p:spPr>
        <p:txBody>
          <a:bodyPr/>
          <a:lstStyle/>
          <a:p/>
        </p:txBody>
      </p:sp>
      <p:sp>
        <p:nvSpPr>
          <p:cNvPr id="34" name="Phase Accent 34"/>
          <p:cNvSpPr/>
          <p:nvPr/>
        </p:nvSpPr>
        <p:spPr>
          <a:xfrm>
            <a:off x="6903720" y="3794760"/>
            <a:ext cx="178308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Phase Text 35"/>
          <p:cNvSpPr txBox="1"/>
          <p:nvPr/>
        </p:nvSpPr>
        <p:spPr>
          <a:xfrm>
            <a:off x="6995159" y="4032504"/>
            <a:ext cx="160020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ctr"/>
            <a:r>
              <a:rPr lang="en-US" sz="1320" b="1" dirty="0" smtClean="0">
                <a:solidFill>
                  <a:srgbClr val="F8FAFC"/>
                </a:solidFill>
                <a:latin typeface="Aptos"/>
              </a:rPr>
              <a:t>9 Pull Request</a:t>
            </a:r>
            <a:endParaRPr lang="en-US" sz="1320"/>
          </a:p>
        </p:txBody>
      </p:sp>
      <p:sp>
        <p:nvSpPr>
          <p:cNvPr id="36" name="Phase 36"/>
          <p:cNvSpPr/>
          <p:nvPr/>
        </p:nvSpPr>
        <p:spPr>
          <a:xfrm>
            <a:off x="9006840" y="3794760"/>
            <a:ext cx="1783080" cy="1051560"/>
          </a:xfrm>
          <a:prstGeom prst="roundRect">
            <a:avLst/>
          </a:prstGeom>
          <a:solidFill>
            <a:srgbClr val="111C30"/>
          </a:solidFill>
          <a:ln w="12700" cap="flat" cmpd="sng" algn="ctr">
            <a:solidFill>
              <a:srgbClr val="23405D"/>
            </a:solidFill>
            <a:prstDash val="solid"/>
          </a:ln>
        </p:spPr>
        <p:txBody>
          <a:bodyPr/>
          <a:lstStyle/>
          <a:p/>
        </p:txBody>
      </p:sp>
      <p:sp>
        <p:nvSpPr>
          <p:cNvPr id="37" name="Phase Accent 37"/>
          <p:cNvSpPr/>
          <p:nvPr/>
        </p:nvSpPr>
        <p:spPr>
          <a:xfrm>
            <a:off x="9006840" y="3794760"/>
            <a:ext cx="178308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Phase Text 38"/>
          <p:cNvSpPr txBox="1"/>
          <p:nvPr/>
        </p:nvSpPr>
        <p:spPr>
          <a:xfrm>
            <a:off x="9098280" y="4032504"/>
            <a:ext cx="160020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ctr"/>
            <a:r>
              <a:rPr lang="en-US" sz="1320" b="1" dirty="0" smtClean="0">
                <a:solidFill>
                  <a:srgbClr val="F8FAFC"/>
                </a:solidFill>
                <a:latin typeface="Aptos"/>
              </a:rPr>
              <a:t>10 Close Ticket</a:t>
            </a:r>
            <a:endParaRPr lang="en-US" sz="1320"/>
          </a:p>
        </p:txBody>
      </p:sp>
      <p:sp>
        <p:nvSpPr>
          <p:cNvPr id="39" name="Phase 39"/>
          <p:cNvSpPr/>
          <p:nvPr/>
        </p:nvSpPr>
        <p:spPr>
          <a:xfrm>
            <a:off x="5852160" y="5440680"/>
            <a:ext cx="1783080" cy="1051560"/>
          </a:xfrm>
          <a:prstGeom prst="roundRect">
            <a:avLst/>
          </a:prstGeom>
          <a:solidFill>
            <a:srgbClr val="111C30"/>
          </a:solidFill>
          <a:ln w="12700" cap="flat" cmpd="sng" algn="ctr">
            <a:solidFill>
              <a:srgbClr val="23405D"/>
            </a:solidFill>
            <a:prstDash val="solid"/>
          </a:ln>
        </p:spPr>
        <p:txBody>
          <a:bodyPr/>
          <a:lstStyle/>
          <a:p/>
        </p:txBody>
      </p:sp>
      <p:sp>
        <p:nvSpPr>
          <p:cNvPr id="40" name="Phase Accent 40"/>
          <p:cNvSpPr/>
          <p:nvPr/>
        </p:nvSpPr>
        <p:spPr>
          <a:xfrm>
            <a:off x="5852160" y="5440680"/>
            <a:ext cx="1783080" cy="73152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Phase Text 41"/>
          <p:cNvSpPr txBox="1"/>
          <p:nvPr/>
        </p:nvSpPr>
        <p:spPr>
          <a:xfrm>
            <a:off x="5943600" y="5678424"/>
            <a:ext cx="160020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ctr"/>
            <a:r>
              <a:rPr lang="en-US" sz="1320" b="1" dirty="0" smtClean="0">
                <a:solidFill>
                  <a:srgbClr val="F8FAFC"/>
                </a:solidFill>
                <a:latin typeface="Aptos"/>
              </a:rPr>
              <a:t>11 Continue</a:t>
            </a:r>
            <a:endParaRPr lang="en-US" sz="1320"/>
          </a:p>
        </p:txBody>
      </p:sp>
      <p:sp>
        <p:nvSpPr>
          <p:cNvPr id="42" name="Arrow 42"/>
          <p:cNvSpPr txBox="1"/>
          <p:nvPr/>
        </p:nvSpPr>
        <p:spPr>
          <a:xfrm>
            <a:off x="10789920" y="2267712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ctr"/>
            <a:r>
              <a:rPr lang="en-US" sz="2200" b="1" dirty="0" smtClean="0">
                <a:solidFill>
                  <a:srgbClr val="35D0FF"/>
                </a:solidFill>
                <a:latin typeface="Aptos"/>
              </a:rPr>
              <a:t>→</a:t>
            </a:r>
            <a:endParaRPr lang="en-US" sz="2200"/>
          </a:p>
        </p:txBody>
      </p:sp>
      <p:sp>
        <p:nvSpPr>
          <p:cNvPr id="43" name="Arrow 43"/>
          <p:cNvSpPr txBox="1"/>
          <p:nvPr/>
        </p:nvSpPr>
        <p:spPr>
          <a:xfrm>
            <a:off x="3529584" y="4718304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ctr"/>
            <a:r>
              <a:rPr lang="en-US" sz="2200" b="1" dirty="0" smtClean="0">
                <a:solidFill>
                  <a:srgbClr val="35D0FF"/>
                </a:solidFill>
                <a:latin typeface="Aptos"/>
              </a:rPr>
              <a:t>→</a:t>
            </a:r>
            <a:endParaRPr lang="en-US" sz="2200"/>
          </a:p>
        </p:txBody>
      </p:sp>
      <p:sp>
        <p:nvSpPr>
          <p:cNvPr id="44" name="Card 44"/>
          <p:cNvSpPr/>
          <p:nvPr/>
        </p:nvSpPr>
        <p:spPr>
          <a:xfrm>
            <a:off x="8183879" y="5074920"/>
            <a:ext cx="3429000" cy="1143000"/>
          </a:xfrm>
          <a:prstGeom prst="roundRect">
            <a:avLst/>
          </a:prstGeom>
          <a:solidFill>
            <a:srgbClr val="111C30"/>
          </a:solidFill>
          <a:ln w="12700" cap="flat" cmpd="sng" algn="ctr">
            <a:solidFill>
              <a:srgbClr val="23405D"/>
            </a:solidFill>
            <a:prstDash val="solid"/>
          </a:ln>
        </p:spPr>
        <p:txBody>
          <a:bodyPr/>
          <a:lstStyle/>
          <a:p/>
        </p:txBody>
      </p:sp>
      <p:sp>
        <p:nvSpPr>
          <p:cNvPr id="45" name="Accent 45"/>
          <p:cNvSpPr/>
          <p:nvPr/>
        </p:nvSpPr>
        <p:spPr>
          <a:xfrm>
            <a:off x="8183879" y="5074920"/>
            <a:ext cx="3429000" cy="73152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Card Title 46"/>
          <p:cNvSpPr txBox="1"/>
          <p:nvPr/>
        </p:nvSpPr>
        <p:spPr>
          <a:xfrm>
            <a:off x="8311896" y="5184648"/>
            <a:ext cx="3172968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850" b="1" dirty="0" smtClean="0">
                <a:solidFill>
                  <a:srgbClr val="F8FAFC"/>
                </a:solidFill>
                <a:latin typeface="Aptos"/>
              </a:rPr>
              <a:t>Stops only when</a:t>
            </a:r>
            <a:endParaRPr lang="en-US" sz="1850"/>
          </a:p>
        </p:txBody>
      </p:sp>
      <p:sp>
        <p:nvSpPr>
          <p:cNvPr id="47" name="Card Body 47"/>
          <p:cNvSpPr txBox="1"/>
          <p:nvPr/>
        </p:nvSpPr>
        <p:spPr>
          <a:xfrm>
            <a:off x="8293607" y="5532120"/>
            <a:ext cx="3209544" cy="61264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No active tickets remain</a:t>
            </a:r>
            <a:endParaRPr lang="en-US" sz="1180"/>
          </a:p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Build/test failures occur</a:t>
            </a:r>
            <a:endParaRPr lang="en-US" sz="1180"/>
          </a:p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Requirements are incomplete</a:t>
            </a:r>
            <a:endParaRPr lang="en-US" sz="118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hared Models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5D0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ection Pill 3"/>
          <p:cNvSpPr/>
          <p:nvPr/>
        </p:nvSpPr>
        <p:spPr>
          <a:xfrm>
            <a:off x="384048" y="384048"/>
            <a:ext cx="1965960" cy="329184"/>
          </a:xfrm>
          <a:prstGeom prst="roundRect">
            <a:avLst/>
          </a:prstGeom>
          <a:solidFill>
            <a:srgbClr val="16243B"/>
          </a:solidFill>
          <a:ln w="12700" cap="flat" cmpd="sng" algn="ctr">
            <a:solidFill>
              <a:srgbClr val="35D0FF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Section Text 4"/>
          <p:cNvSpPr txBox="1"/>
          <p:nvPr/>
        </p:nvSpPr>
        <p:spPr>
          <a:xfrm>
            <a:off x="502920" y="420624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950" b="1" dirty="0" smtClean="0">
                <a:solidFill>
                  <a:srgbClr val="35D0FF"/>
                </a:solidFill>
                <a:latin typeface="Aptos"/>
              </a:rPr>
              <a:t>04 SHARED WORKFLOW</a:t>
            </a:r>
            <a:endParaRPr lang="en-US" sz="950"/>
          </a:p>
        </p:txBody>
      </p:sp>
      <p:sp>
        <p:nvSpPr>
          <p:cNvPr id="5" name="Title 5"/>
          <p:cNvSpPr txBox="1"/>
          <p:nvPr/>
        </p:nvSpPr>
        <p:spPr>
          <a:xfrm>
            <a:off x="493776" y="868680"/>
            <a:ext cx="7955279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2600" b="1" dirty="0" smtClean="0">
                <a:solidFill>
                  <a:srgbClr val="F8FAFC"/>
                </a:solidFill>
                <a:latin typeface="Aptos"/>
              </a:rPr>
              <a:t>Special Rules for harborSharedModels</a:t>
            </a:r>
            <a:endParaRPr lang="en-US" sz="2600"/>
          </a:p>
        </p:txBody>
      </p:sp>
      <p:sp>
        <p:nvSpPr>
          <p:cNvPr id="6" name="Subtitle 6"/>
          <p:cNvSpPr txBox="1"/>
          <p:nvPr/>
        </p:nvSpPr>
        <p:spPr>
          <a:xfrm>
            <a:off x="512064" y="1371600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180" dirty="0" smtClean="0">
                <a:solidFill>
                  <a:srgbClr val="94A3B8"/>
                </a:solidFill>
                <a:latin typeface="Aptos"/>
              </a:rPr>
              <a:t>Shared model changes are treated like library releases rather than standard service updates.</a:t>
            </a:r>
            <a:endParaRPr lang="en-US" sz="1180"/>
          </a:p>
        </p:txBody>
      </p:sp>
      <p:sp>
        <p:nvSpPr>
          <p:cNvPr id="7" name="Footer No 7"/>
          <p:cNvSpPr txBox="1"/>
          <p:nvPr/>
        </p:nvSpPr>
        <p:spPr>
          <a:xfrm>
            <a:off x="10881360" y="640080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r"/>
            <a:r>
              <a:rPr lang="en-US" sz="1000" b="1" dirty="0" smtClean="0">
                <a:solidFill>
                  <a:srgbClr val="94A3B8"/>
                </a:solidFill>
                <a:latin typeface="Aptos"/>
              </a:rPr>
              <a:t>06</a:t>
            </a:r>
            <a:endParaRPr lang="en-US" sz="1000"/>
          </a:p>
        </p:txBody>
      </p:sp>
      <p:sp>
        <p:nvSpPr>
          <p:cNvPr id="8" name="Footer Text 8"/>
          <p:cNvSpPr txBox="1"/>
          <p:nvPr/>
        </p:nvSpPr>
        <p:spPr>
          <a:xfrm>
            <a:off x="457200" y="6400800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000" dirty="0" smtClean="0">
                <a:solidFill>
                  <a:srgbClr val="94A3B8"/>
                </a:solidFill>
                <a:latin typeface="Aptos"/>
              </a:rPr>
              <a:t>Harbor AI Agent</a:t>
            </a:r>
            <a:endParaRPr lang="en-US" sz="1000"/>
          </a:p>
        </p:txBody>
      </p:sp>
      <p:sp>
        <p:nvSpPr>
          <p:cNvPr id="9" name="Card 9"/>
          <p:cNvSpPr/>
          <p:nvPr/>
        </p:nvSpPr>
        <p:spPr>
          <a:xfrm>
            <a:off x="548640" y="1847088"/>
            <a:ext cx="3566160" cy="1828800"/>
          </a:xfrm>
          <a:prstGeom prst="roundRect">
            <a:avLst/>
          </a:prstGeom>
          <a:solidFill>
            <a:srgbClr val="111C30"/>
          </a:solidFill>
          <a:ln w="12700" cap="flat" cmpd="sng" algn="ctr">
            <a:solidFill>
              <a:srgbClr val="23405D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Accent 10"/>
          <p:cNvSpPr/>
          <p:nvPr/>
        </p:nvSpPr>
        <p:spPr>
          <a:xfrm>
            <a:off x="548640" y="1847088"/>
            <a:ext cx="3566160" cy="73152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Card Title 11"/>
          <p:cNvSpPr txBox="1"/>
          <p:nvPr/>
        </p:nvSpPr>
        <p:spPr>
          <a:xfrm>
            <a:off x="676656" y="1956816"/>
            <a:ext cx="3310128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850" b="1" dirty="0" smtClean="0">
                <a:solidFill>
                  <a:srgbClr val="F8FAFC"/>
                </a:solidFill>
                <a:latin typeface="Aptos"/>
              </a:rPr>
              <a:t>Why it is different</a:t>
            </a:r>
            <a:endParaRPr lang="en-US" sz="1850"/>
          </a:p>
        </p:txBody>
      </p:sp>
      <p:sp>
        <p:nvSpPr>
          <p:cNvPr id="12" name="Card Body 12"/>
          <p:cNvSpPr txBox="1"/>
          <p:nvPr/>
        </p:nvSpPr>
        <p:spPr>
          <a:xfrm>
            <a:off x="658368" y="2304288"/>
            <a:ext cx="3346704" cy="129844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Used by multiple services across the platform</a:t>
            </a:r>
            <a:endParaRPr lang="en-US" sz="1180"/>
          </a:p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Requires strict version tracking</a:t>
            </a:r>
            <a:endParaRPr lang="en-US" sz="1180"/>
          </a:p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Dependency changes must remain production-safe</a:t>
            </a:r>
            <a:endParaRPr lang="en-US" sz="1180"/>
          </a:p>
        </p:txBody>
      </p:sp>
      <p:sp>
        <p:nvSpPr>
          <p:cNvPr id="13" name="Card 13"/>
          <p:cNvSpPr/>
          <p:nvPr/>
        </p:nvSpPr>
        <p:spPr>
          <a:xfrm>
            <a:off x="548640" y="3913632"/>
            <a:ext cx="3566160" cy="1828800"/>
          </a:xfrm>
          <a:prstGeom prst="roundRect">
            <a:avLst/>
          </a:prstGeom>
          <a:solidFill>
            <a:srgbClr val="111C30"/>
          </a:solidFill>
          <a:ln w="12700" cap="flat" cmpd="sng" algn="ctr">
            <a:solidFill>
              <a:srgbClr val="23405D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Accent 14"/>
          <p:cNvSpPr/>
          <p:nvPr/>
        </p:nvSpPr>
        <p:spPr>
          <a:xfrm>
            <a:off x="548640" y="3913632"/>
            <a:ext cx="3566160" cy="73152"/>
          </a:xfrm>
          <a:prstGeom prst="rect">
            <a:avLst/>
          </a:prstGeom>
          <a:solidFill>
            <a:srgbClr val="35D0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Card Title 15"/>
          <p:cNvSpPr txBox="1"/>
          <p:nvPr/>
        </p:nvSpPr>
        <p:spPr>
          <a:xfrm>
            <a:off x="676656" y="4023360"/>
            <a:ext cx="3310128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850" b="1" dirty="0" smtClean="0">
                <a:solidFill>
                  <a:srgbClr val="F8FAFC"/>
                </a:solidFill>
                <a:latin typeface="Aptos"/>
              </a:rPr>
              <a:t>Mandatory actions</a:t>
            </a:r>
            <a:endParaRPr lang="en-US" sz="1850"/>
          </a:p>
        </p:txBody>
      </p:sp>
      <p:sp>
        <p:nvSpPr>
          <p:cNvPr id="16" name="Card Body 16"/>
          <p:cNvSpPr txBox="1"/>
          <p:nvPr/>
        </p:nvSpPr>
        <p:spPr>
          <a:xfrm>
            <a:off x="658368" y="4370832"/>
            <a:ext cx="3346704" cy="129844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Update models</a:t>
            </a:r>
            <a:endParaRPr lang="en-US" sz="1180"/>
          </a:p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Increment package version</a:t>
            </a:r>
            <a:endParaRPr lang="en-US" sz="1180"/>
          </a:p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Export/register new models</a:t>
            </a:r>
            <a:endParaRPr lang="en-US" sz="1180"/>
          </a:p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Push branch from main</a:t>
            </a:r>
            <a:endParaRPr lang="en-US" sz="1180"/>
          </a:p>
        </p:txBody>
      </p:sp>
      <p:sp>
        <p:nvSpPr>
          <p:cNvPr id="17" name="Shared Pipeline 17"/>
          <p:cNvSpPr/>
          <p:nvPr/>
        </p:nvSpPr>
        <p:spPr>
          <a:xfrm>
            <a:off x="4443984" y="1847088"/>
            <a:ext cx="3063240" cy="3895344"/>
          </a:xfrm>
          <a:prstGeom prst="roundRect">
            <a:avLst/>
          </a:prstGeom>
          <a:solidFill>
            <a:srgbClr val="111C30"/>
          </a:solidFill>
          <a:ln w="12700" cap="flat" cmpd="sng" algn="ctr">
            <a:solidFill>
              <a:srgbClr val="23405D"/>
            </a:solidFill>
            <a:prstDash val="solid"/>
          </a:ln>
        </p:spPr>
        <p:txBody>
          <a:bodyPr/>
          <a:lstStyle/>
          <a:p/>
        </p:txBody>
      </p:sp>
      <p:sp>
        <p:nvSpPr>
          <p:cNvPr id="18" name="Step Badge 18"/>
          <p:cNvSpPr/>
          <p:nvPr/>
        </p:nvSpPr>
        <p:spPr>
          <a:xfrm>
            <a:off x="4700016" y="2148840"/>
            <a:ext cx="384048" cy="38404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tep No 19"/>
          <p:cNvSpPr txBox="1"/>
          <p:nvPr/>
        </p:nvSpPr>
        <p:spPr>
          <a:xfrm>
            <a:off x="4764024" y="2194560"/>
            <a:ext cx="201168" cy="146304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ctr"/>
            <a:r>
              <a:rPr lang="en-US" sz="980" b="1" dirty="0" smtClean="0">
                <a:solidFill>
                  <a:srgbClr val="08111F"/>
                </a:solidFill>
                <a:latin typeface="Aptos"/>
              </a:rPr>
              <a:t>1</a:t>
            </a:r>
            <a:endParaRPr lang="en-US" sz="980"/>
          </a:p>
        </p:txBody>
      </p:sp>
      <p:sp>
        <p:nvSpPr>
          <p:cNvPr id="20" name="Step Text 20"/>
          <p:cNvSpPr txBox="1"/>
          <p:nvPr/>
        </p:nvSpPr>
        <p:spPr>
          <a:xfrm>
            <a:off x="5230368" y="2185416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280" b="1" dirty="0" smtClean="0">
                <a:solidFill>
                  <a:srgbClr val="F8FAFC"/>
                </a:solidFill>
                <a:latin typeface="Aptos"/>
              </a:rPr>
              <a:t>Modify model files</a:t>
            </a:r>
            <a:endParaRPr lang="en-US" sz="1280"/>
          </a:p>
        </p:txBody>
      </p:sp>
      <p:sp>
        <p:nvSpPr>
          <p:cNvPr id="21" name="Step Badge 21"/>
          <p:cNvSpPr/>
          <p:nvPr/>
        </p:nvSpPr>
        <p:spPr>
          <a:xfrm>
            <a:off x="4700016" y="2880360"/>
            <a:ext cx="384048" cy="38404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Step No 22"/>
          <p:cNvSpPr txBox="1"/>
          <p:nvPr/>
        </p:nvSpPr>
        <p:spPr>
          <a:xfrm>
            <a:off x="4764024" y="2926079"/>
            <a:ext cx="201168" cy="146304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ctr"/>
            <a:r>
              <a:rPr lang="en-US" sz="980" b="1" dirty="0" smtClean="0">
                <a:solidFill>
                  <a:srgbClr val="08111F"/>
                </a:solidFill>
                <a:latin typeface="Aptos"/>
              </a:rPr>
              <a:t>2</a:t>
            </a:r>
            <a:endParaRPr lang="en-US" sz="980"/>
          </a:p>
        </p:txBody>
      </p:sp>
      <p:sp>
        <p:nvSpPr>
          <p:cNvPr id="23" name="Step Text 23"/>
          <p:cNvSpPr txBox="1"/>
          <p:nvPr/>
        </p:nvSpPr>
        <p:spPr>
          <a:xfrm>
            <a:off x="5230368" y="2916936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280" b="1" dirty="0" smtClean="0">
                <a:solidFill>
                  <a:srgbClr val="F8FAFC"/>
                </a:solidFill>
                <a:latin typeface="Aptos"/>
              </a:rPr>
              <a:t>Bump package version</a:t>
            </a:r>
            <a:endParaRPr lang="en-US" sz="1280"/>
          </a:p>
        </p:txBody>
      </p:sp>
      <p:sp>
        <p:nvSpPr>
          <p:cNvPr id="24" name="Step Badge 24"/>
          <p:cNvSpPr/>
          <p:nvPr/>
        </p:nvSpPr>
        <p:spPr>
          <a:xfrm>
            <a:off x="4700016" y="3611880"/>
            <a:ext cx="384048" cy="38404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tep No 25"/>
          <p:cNvSpPr txBox="1"/>
          <p:nvPr/>
        </p:nvSpPr>
        <p:spPr>
          <a:xfrm>
            <a:off x="4764024" y="3657600"/>
            <a:ext cx="201168" cy="146304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ctr"/>
            <a:r>
              <a:rPr lang="en-US" sz="980" b="1" dirty="0" smtClean="0">
                <a:solidFill>
                  <a:srgbClr val="08111F"/>
                </a:solidFill>
                <a:latin typeface="Aptos"/>
              </a:rPr>
              <a:t>3</a:t>
            </a:r>
            <a:endParaRPr lang="en-US" sz="980"/>
          </a:p>
        </p:txBody>
      </p:sp>
      <p:sp>
        <p:nvSpPr>
          <p:cNvPr id="26" name="Step Text 26"/>
          <p:cNvSpPr txBox="1"/>
          <p:nvPr/>
        </p:nvSpPr>
        <p:spPr>
          <a:xfrm>
            <a:off x="5230368" y="3648456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280" b="1" dirty="0" smtClean="0">
                <a:solidFill>
                  <a:srgbClr val="F8FAFC"/>
                </a:solidFill>
                <a:latin typeface="Aptos"/>
              </a:rPr>
              <a:t>Update exports and index</a:t>
            </a:r>
            <a:endParaRPr lang="en-US" sz="1280"/>
          </a:p>
        </p:txBody>
      </p:sp>
      <p:sp>
        <p:nvSpPr>
          <p:cNvPr id="27" name="Step Badge 27"/>
          <p:cNvSpPr/>
          <p:nvPr/>
        </p:nvSpPr>
        <p:spPr>
          <a:xfrm>
            <a:off x="4700016" y="4343400"/>
            <a:ext cx="384048" cy="38404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Step No 28"/>
          <p:cNvSpPr txBox="1"/>
          <p:nvPr/>
        </p:nvSpPr>
        <p:spPr>
          <a:xfrm>
            <a:off x="4764024" y="4389120"/>
            <a:ext cx="201168" cy="146304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ctr"/>
            <a:r>
              <a:rPr lang="en-US" sz="980" b="1" dirty="0" smtClean="0">
                <a:solidFill>
                  <a:srgbClr val="08111F"/>
                </a:solidFill>
                <a:latin typeface="Aptos"/>
              </a:rPr>
              <a:t>4</a:t>
            </a:r>
            <a:endParaRPr lang="en-US" sz="980"/>
          </a:p>
        </p:txBody>
      </p:sp>
      <p:sp>
        <p:nvSpPr>
          <p:cNvPr id="29" name="Step Text 29"/>
          <p:cNvSpPr txBox="1"/>
          <p:nvPr/>
        </p:nvSpPr>
        <p:spPr>
          <a:xfrm>
            <a:off x="5230368" y="4379976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280" b="1" dirty="0" smtClean="0">
                <a:solidFill>
                  <a:srgbClr val="F8FAFC"/>
                </a:solidFill>
                <a:latin typeface="Aptos"/>
              </a:rPr>
              <a:t>Push branch without PR</a:t>
            </a:r>
            <a:endParaRPr lang="en-US" sz="1280"/>
          </a:p>
        </p:txBody>
      </p:sp>
      <p:sp>
        <p:nvSpPr>
          <p:cNvPr id="30" name="Card 30"/>
          <p:cNvSpPr/>
          <p:nvPr/>
        </p:nvSpPr>
        <p:spPr>
          <a:xfrm>
            <a:off x="7790688" y="1847088"/>
            <a:ext cx="3840480" cy="1828800"/>
          </a:xfrm>
          <a:prstGeom prst="roundRect">
            <a:avLst/>
          </a:prstGeom>
          <a:solidFill>
            <a:srgbClr val="111C30"/>
          </a:solidFill>
          <a:ln w="12700" cap="flat" cmpd="sng" algn="ctr">
            <a:solidFill>
              <a:srgbClr val="23405D"/>
            </a:solidFill>
            <a:prstDash val="solid"/>
          </a:ln>
        </p:spPr>
        <p:txBody>
          <a:bodyPr/>
          <a:lstStyle/>
          <a:p/>
        </p:txBody>
      </p:sp>
      <p:sp>
        <p:nvSpPr>
          <p:cNvPr id="31" name="Accent 31"/>
          <p:cNvSpPr/>
          <p:nvPr/>
        </p:nvSpPr>
        <p:spPr>
          <a:xfrm>
            <a:off x="7790688" y="1847088"/>
            <a:ext cx="384048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Card Title 32"/>
          <p:cNvSpPr txBox="1"/>
          <p:nvPr/>
        </p:nvSpPr>
        <p:spPr>
          <a:xfrm>
            <a:off x="7918704" y="1956816"/>
            <a:ext cx="3584448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850" b="1" dirty="0" smtClean="0">
                <a:solidFill>
                  <a:srgbClr val="F8FAFC"/>
                </a:solidFill>
                <a:latin typeface="Aptos"/>
              </a:rPr>
              <a:t>Do not</a:t>
            </a:r>
            <a:endParaRPr lang="en-US" sz="1850"/>
          </a:p>
        </p:txBody>
      </p:sp>
      <p:sp>
        <p:nvSpPr>
          <p:cNvPr id="33" name="Card Body 33"/>
          <p:cNvSpPr txBox="1"/>
          <p:nvPr/>
        </p:nvSpPr>
        <p:spPr>
          <a:xfrm>
            <a:off x="7900415" y="2304288"/>
            <a:ext cx="3621024" cy="129844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Run tests</a:t>
            </a:r>
            <a:endParaRPr lang="en-US" sz="1180"/>
          </a:p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Run npm start</a:t>
            </a:r>
            <a:endParaRPr lang="en-US" sz="1180"/>
          </a:p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Create a pull request</a:t>
            </a:r>
            <a:endParaRPr lang="en-US" sz="1180"/>
          </a:p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Use file path dependencies</a:t>
            </a:r>
            <a:endParaRPr lang="en-US" sz="1180"/>
          </a:p>
        </p:txBody>
      </p:sp>
      <p:sp>
        <p:nvSpPr>
          <p:cNvPr id="34" name="Card 34"/>
          <p:cNvSpPr/>
          <p:nvPr/>
        </p:nvSpPr>
        <p:spPr>
          <a:xfrm>
            <a:off x="7790688" y="3913632"/>
            <a:ext cx="3840480" cy="1828800"/>
          </a:xfrm>
          <a:prstGeom prst="roundRect">
            <a:avLst/>
          </a:prstGeom>
          <a:solidFill>
            <a:srgbClr val="111C30"/>
          </a:solidFill>
          <a:ln w="12700" cap="flat" cmpd="sng" algn="ctr">
            <a:solidFill>
              <a:srgbClr val="23405D"/>
            </a:solidFill>
            <a:prstDash val="solid"/>
          </a:ln>
        </p:spPr>
        <p:txBody>
          <a:bodyPr/>
          <a:lstStyle/>
          <a:p/>
        </p:txBody>
      </p:sp>
      <p:sp>
        <p:nvSpPr>
          <p:cNvPr id="35" name="Accent 35"/>
          <p:cNvSpPr/>
          <p:nvPr/>
        </p:nvSpPr>
        <p:spPr>
          <a:xfrm>
            <a:off x="7790688" y="3913632"/>
            <a:ext cx="384048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Card Title 36"/>
          <p:cNvSpPr txBox="1"/>
          <p:nvPr/>
        </p:nvSpPr>
        <p:spPr>
          <a:xfrm>
            <a:off x="7918704" y="4023360"/>
            <a:ext cx="3584448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850" b="1" dirty="0" smtClean="0">
                <a:solidFill>
                  <a:srgbClr val="F8FAFC"/>
                </a:solidFill>
                <a:latin typeface="Aptos"/>
              </a:rPr>
              <a:t>Branching rule</a:t>
            </a:r>
            <a:endParaRPr lang="en-US" sz="1850"/>
          </a:p>
        </p:txBody>
      </p:sp>
      <p:sp>
        <p:nvSpPr>
          <p:cNvPr id="37" name="Card Body 37"/>
          <p:cNvSpPr txBox="1"/>
          <p:nvPr/>
        </p:nvSpPr>
        <p:spPr>
          <a:xfrm>
            <a:off x="7900415" y="4370832"/>
            <a:ext cx="3621024" cy="129844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Standard services branch from dev</a:t>
            </a:r>
            <a:endParaRPr lang="en-US" sz="1180"/>
          </a:p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harborSharedModels branches from main</a:t>
            </a:r>
            <a:endParaRPr lang="en-US" sz="118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it Strategy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5D0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ection Pill 3"/>
          <p:cNvSpPr/>
          <p:nvPr/>
        </p:nvSpPr>
        <p:spPr>
          <a:xfrm>
            <a:off x="384048" y="384048"/>
            <a:ext cx="1965960" cy="329184"/>
          </a:xfrm>
          <a:prstGeom prst="roundRect">
            <a:avLst/>
          </a:prstGeom>
          <a:solidFill>
            <a:srgbClr val="16243B"/>
          </a:solidFill>
          <a:ln w="12700" cap="flat" cmpd="sng" algn="ctr">
            <a:solidFill>
              <a:srgbClr val="35D0FF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Section Text 4"/>
          <p:cNvSpPr txBox="1"/>
          <p:nvPr/>
        </p:nvSpPr>
        <p:spPr>
          <a:xfrm>
            <a:off x="502920" y="420624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950" b="1" dirty="0" smtClean="0">
                <a:solidFill>
                  <a:srgbClr val="35D0FF"/>
                </a:solidFill>
                <a:latin typeface="Aptos"/>
              </a:rPr>
              <a:t>05 GIT WORKFLOW</a:t>
            </a:r>
            <a:endParaRPr lang="en-US" sz="950"/>
          </a:p>
        </p:txBody>
      </p:sp>
      <p:sp>
        <p:nvSpPr>
          <p:cNvPr id="5" name="Title 5"/>
          <p:cNvSpPr txBox="1"/>
          <p:nvPr/>
        </p:nvSpPr>
        <p:spPr>
          <a:xfrm>
            <a:off x="493776" y="868680"/>
            <a:ext cx="7955279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2600" b="1" dirty="0" smtClean="0">
                <a:solidFill>
                  <a:srgbClr val="F8FAFC"/>
                </a:solidFill>
                <a:latin typeface="Aptos"/>
              </a:rPr>
              <a:t>Branching, Commits, and Pull Requests</a:t>
            </a:r>
            <a:endParaRPr lang="en-US" sz="2600"/>
          </a:p>
        </p:txBody>
      </p:sp>
      <p:sp>
        <p:nvSpPr>
          <p:cNvPr id="6" name="Subtitle 6"/>
          <p:cNvSpPr txBox="1"/>
          <p:nvPr/>
        </p:nvSpPr>
        <p:spPr>
          <a:xfrm>
            <a:off x="512064" y="1371600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180" dirty="0" smtClean="0">
                <a:solidFill>
                  <a:srgbClr val="94A3B8"/>
                </a:solidFill>
                <a:latin typeface="Aptos"/>
              </a:rPr>
              <a:t>Git operations differ for standard services versus the shared models library.</a:t>
            </a:r>
            <a:endParaRPr lang="en-US" sz="1180"/>
          </a:p>
        </p:txBody>
      </p:sp>
      <p:sp>
        <p:nvSpPr>
          <p:cNvPr id="7" name="Footer No 7"/>
          <p:cNvSpPr txBox="1"/>
          <p:nvPr/>
        </p:nvSpPr>
        <p:spPr>
          <a:xfrm>
            <a:off x="10881360" y="640080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r"/>
            <a:r>
              <a:rPr lang="en-US" sz="1000" b="1" dirty="0" smtClean="0">
                <a:solidFill>
                  <a:srgbClr val="94A3B8"/>
                </a:solidFill>
                <a:latin typeface="Aptos"/>
              </a:rPr>
              <a:t>07</a:t>
            </a:r>
            <a:endParaRPr lang="en-US" sz="1000"/>
          </a:p>
        </p:txBody>
      </p:sp>
      <p:sp>
        <p:nvSpPr>
          <p:cNvPr id="8" name="Footer Text 8"/>
          <p:cNvSpPr txBox="1"/>
          <p:nvPr/>
        </p:nvSpPr>
        <p:spPr>
          <a:xfrm>
            <a:off x="457200" y="6400800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000" dirty="0" smtClean="0">
                <a:solidFill>
                  <a:srgbClr val="94A3B8"/>
                </a:solidFill>
                <a:latin typeface="Aptos"/>
              </a:rPr>
              <a:t>Harbor AI Agent</a:t>
            </a:r>
            <a:endParaRPr lang="en-US" sz="1000"/>
          </a:p>
        </p:txBody>
      </p:sp>
      <p:sp>
        <p:nvSpPr>
          <p:cNvPr id="9" name="Branch Format 9"/>
          <p:cNvSpPr txBox="1"/>
          <p:nvPr/>
        </p:nvSpPr>
        <p:spPr>
          <a:xfrm>
            <a:off x="658368" y="1737360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150" b="1" dirty="0" smtClean="0">
                <a:solidFill>
                  <a:srgbClr val="35D0FF"/>
                </a:solidFill>
                <a:latin typeface="Aptos"/>
              </a:rPr>
              <a:t>Feature branch format: feature/&lt;ticket-id&gt;-&lt;short-description&gt;</a:t>
            </a:r>
            <a:endParaRPr lang="en-US" sz="1150"/>
          </a:p>
        </p:txBody>
      </p:sp>
      <p:sp>
        <p:nvSpPr>
          <p:cNvPr id="10" name="Card 10"/>
          <p:cNvSpPr/>
          <p:nvPr/>
        </p:nvSpPr>
        <p:spPr>
          <a:xfrm>
            <a:off x="566928" y="2148840"/>
            <a:ext cx="5257800" cy="3566160"/>
          </a:xfrm>
          <a:prstGeom prst="roundRect">
            <a:avLst/>
          </a:prstGeom>
          <a:solidFill>
            <a:srgbClr val="111C30"/>
          </a:solidFill>
          <a:ln w="12700" cap="flat" cmpd="sng" algn="ctr">
            <a:solidFill>
              <a:srgbClr val="23405D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Accent 11"/>
          <p:cNvSpPr/>
          <p:nvPr/>
        </p:nvSpPr>
        <p:spPr>
          <a:xfrm>
            <a:off x="566928" y="2148840"/>
            <a:ext cx="5257800" cy="73152"/>
          </a:xfrm>
          <a:prstGeom prst="rect">
            <a:avLst/>
          </a:prstGeom>
          <a:solidFill>
            <a:srgbClr val="35D0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Card Title 12"/>
          <p:cNvSpPr txBox="1"/>
          <p:nvPr/>
        </p:nvSpPr>
        <p:spPr>
          <a:xfrm>
            <a:off x="694944" y="2258568"/>
            <a:ext cx="5001768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850" b="1" dirty="0" smtClean="0">
                <a:solidFill>
                  <a:srgbClr val="F8FAFC"/>
                </a:solidFill>
                <a:latin typeface="Aptos"/>
              </a:rPr>
              <a:t>Standard services</a:t>
            </a:r>
            <a:endParaRPr lang="en-US" sz="1850"/>
          </a:p>
        </p:txBody>
      </p:sp>
      <p:sp>
        <p:nvSpPr>
          <p:cNvPr id="13" name="Card Body 13"/>
          <p:cNvSpPr txBox="1"/>
          <p:nvPr/>
        </p:nvSpPr>
        <p:spPr>
          <a:xfrm>
            <a:off x="676656" y="2606040"/>
            <a:ext cx="5038344" cy="303580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Create branch from dev</a:t>
            </a:r>
            <a:endParaRPr lang="en-US" sz="1180"/>
          </a:p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Implement and validate changes</a:t>
            </a:r>
            <a:endParaRPr lang="en-US" sz="1180"/>
          </a:p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Commit with descriptive message</a:t>
            </a:r>
            <a:endParaRPr lang="en-US" sz="1180"/>
          </a:p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Push and create PR targeting dev</a:t>
            </a:r>
            <a:endParaRPr lang="en-US" sz="1180"/>
          </a:p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Close the Azure DevOps ticket after PR</a:t>
            </a:r>
            <a:endParaRPr lang="en-US" sz="1180"/>
          </a:p>
        </p:txBody>
      </p:sp>
      <p:sp>
        <p:nvSpPr>
          <p:cNvPr id="14" name="Card 14"/>
          <p:cNvSpPr/>
          <p:nvPr/>
        </p:nvSpPr>
        <p:spPr>
          <a:xfrm>
            <a:off x="6355080" y="2148840"/>
            <a:ext cx="5257800" cy="3566160"/>
          </a:xfrm>
          <a:prstGeom prst="roundRect">
            <a:avLst/>
          </a:prstGeom>
          <a:solidFill>
            <a:srgbClr val="111C30"/>
          </a:solidFill>
          <a:ln w="12700" cap="flat" cmpd="sng" algn="ctr">
            <a:solidFill>
              <a:srgbClr val="23405D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Accent 15"/>
          <p:cNvSpPr/>
          <p:nvPr/>
        </p:nvSpPr>
        <p:spPr>
          <a:xfrm>
            <a:off x="6355080" y="2148840"/>
            <a:ext cx="5257800" cy="73152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Card Title 16"/>
          <p:cNvSpPr txBox="1"/>
          <p:nvPr/>
        </p:nvSpPr>
        <p:spPr>
          <a:xfrm>
            <a:off x="6483096" y="2258568"/>
            <a:ext cx="5001768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850" b="1" dirty="0" smtClean="0">
                <a:solidFill>
                  <a:srgbClr val="F8FAFC"/>
                </a:solidFill>
                <a:latin typeface="Aptos"/>
              </a:rPr>
              <a:t>harborSharedModels</a:t>
            </a:r>
            <a:endParaRPr lang="en-US" sz="1850"/>
          </a:p>
        </p:txBody>
      </p:sp>
      <p:sp>
        <p:nvSpPr>
          <p:cNvPr id="17" name="Card Body 17"/>
          <p:cNvSpPr txBox="1"/>
          <p:nvPr/>
        </p:nvSpPr>
        <p:spPr>
          <a:xfrm>
            <a:off x="6464808" y="2606040"/>
            <a:ext cx="5038344" cy="303580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Create branch from main</a:t>
            </a:r>
            <a:endParaRPr lang="en-US" sz="1180"/>
          </a:p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Update models and package version</a:t>
            </a:r>
            <a:endParaRPr lang="en-US" sz="1180"/>
          </a:p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Commit and push branch</a:t>
            </a:r>
            <a:endParaRPr lang="en-US" sz="1180"/>
          </a:p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Do not create PR</a:t>
            </a:r>
            <a:endParaRPr lang="en-US" sz="1180"/>
          </a:p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Integrate via dependency version updates</a:t>
            </a:r>
            <a:endParaRPr lang="en-US" sz="1180"/>
          </a:p>
        </p:txBody>
      </p:sp>
      <p:sp>
        <p:nvSpPr>
          <p:cNvPr id="18" name="Commit Strip 18"/>
          <p:cNvSpPr/>
          <p:nvPr/>
        </p:nvSpPr>
        <p:spPr>
          <a:xfrm>
            <a:off x="749808" y="5897880"/>
            <a:ext cx="10863072" cy="384048"/>
          </a:xfrm>
          <a:prstGeom prst="roundRect">
            <a:avLst/>
          </a:prstGeom>
          <a:solidFill>
            <a:srgbClr val="16243B"/>
          </a:solidFill>
          <a:ln w="12700" cap="flat" cmpd="sng" algn="ctr">
            <a:solidFill>
              <a:srgbClr val="23405D"/>
            </a:solidFill>
            <a:prstDash val="solid"/>
          </a:ln>
        </p:spPr>
        <p:txBody>
          <a:bodyPr/>
          <a:lstStyle/>
          <a:p/>
        </p:txBody>
      </p:sp>
      <p:sp>
        <p:nvSpPr>
          <p:cNvPr id="19" name="Commit Text 19"/>
          <p:cNvSpPr txBox="1"/>
          <p:nvPr/>
        </p:nvSpPr>
        <p:spPr>
          <a:xfrm>
            <a:off x="914400" y="5980176"/>
            <a:ext cx="1042416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ctr"/>
            <a:r>
              <a:rPr lang="en-US" sz="980" dirty="0" smtClean="0">
                <a:solidFill>
                  <a:srgbClr val="CBD5E1"/>
                </a:solidFill>
                <a:latin typeface="Aptos"/>
              </a:rPr>
              <a:t>Commit standard: feat:/fix:/refactor:/docs:/test:/chore: with a clear summary and Co-Authored-By metadata.</a:t>
            </a:r>
            <a:endParaRPr lang="en-US" sz="98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pendencies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5D0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ection Pill 3"/>
          <p:cNvSpPr/>
          <p:nvPr/>
        </p:nvSpPr>
        <p:spPr>
          <a:xfrm>
            <a:off x="384048" y="384048"/>
            <a:ext cx="1965960" cy="329184"/>
          </a:xfrm>
          <a:prstGeom prst="roundRect">
            <a:avLst/>
          </a:prstGeom>
          <a:solidFill>
            <a:srgbClr val="16243B"/>
          </a:solidFill>
          <a:ln w="12700" cap="flat" cmpd="sng" algn="ctr">
            <a:solidFill>
              <a:srgbClr val="35D0FF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Section Text 4"/>
          <p:cNvSpPr txBox="1"/>
          <p:nvPr/>
        </p:nvSpPr>
        <p:spPr>
          <a:xfrm>
            <a:off x="502920" y="420624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950" b="1" dirty="0" smtClean="0">
                <a:solidFill>
                  <a:srgbClr val="35D0FF"/>
                </a:solidFill>
                <a:latin typeface="Aptos"/>
              </a:rPr>
              <a:t>06 DEPENDENCY CONTROL</a:t>
            </a:r>
            <a:endParaRPr lang="en-US" sz="950"/>
          </a:p>
        </p:txBody>
      </p:sp>
      <p:sp>
        <p:nvSpPr>
          <p:cNvPr id="5" name="Title 5"/>
          <p:cNvSpPr txBox="1"/>
          <p:nvPr/>
        </p:nvSpPr>
        <p:spPr>
          <a:xfrm>
            <a:off x="493776" y="868680"/>
            <a:ext cx="7955279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2600" b="1" dirty="0" smtClean="0">
                <a:solidFill>
                  <a:srgbClr val="F8FAFC"/>
                </a:solidFill>
                <a:latin typeface="Aptos"/>
              </a:rPr>
              <a:t>Version Numbers, Not File Paths</a:t>
            </a:r>
            <a:endParaRPr lang="en-US" sz="2600"/>
          </a:p>
        </p:txBody>
      </p:sp>
      <p:sp>
        <p:nvSpPr>
          <p:cNvPr id="6" name="Subtitle 6"/>
          <p:cNvSpPr txBox="1"/>
          <p:nvPr/>
        </p:nvSpPr>
        <p:spPr>
          <a:xfrm>
            <a:off x="512064" y="1371600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180" dirty="0" smtClean="0">
                <a:solidFill>
                  <a:srgbClr val="94A3B8"/>
                </a:solidFill>
                <a:latin typeface="Aptos"/>
              </a:rPr>
              <a:t>Shared model updates must flow through semantic versions across all dependent services.</a:t>
            </a:r>
            <a:endParaRPr lang="en-US" sz="1180"/>
          </a:p>
        </p:txBody>
      </p:sp>
      <p:sp>
        <p:nvSpPr>
          <p:cNvPr id="7" name="Footer No 7"/>
          <p:cNvSpPr txBox="1"/>
          <p:nvPr/>
        </p:nvSpPr>
        <p:spPr>
          <a:xfrm>
            <a:off x="10881360" y="640080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r"/>
            <a:r>
              <a:rPr lang="en-US" sz="1000" b="1" dirty="0" smtClean="0">
                <a:solidFill>
                  <a:srgbClr val="94A3B8"/>
                </a:solidFill>
                <a:latin typeface="Aptos"/>
              </a:rPr>
              <a:t>08</a:t>
            </a:r>
            <a:endParaRPr lang="en-US" sz="1000"/>
          </a:p>
        </p:txBody>
      </p:sp>
      <p:sp>
        <p:nvSpPr>
          <p:cNvPr id="8" name="Footer Text 8"/>
          <p:cNvSpPr txBox="1"/>
          <p:nvPr/>
        </p:nvSpPr>
        <p:spPr>
          <a:xfrm>
            <a:off x="457200" y="6400800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000" dirty="0" smtClean="0">
                <a:solidFill>
                  <a:srgbClr val="94A3B8"/>
                </a:solidFill>
                <a:latin typeface="Aptos"/>
              </a:rPr>
              <a:t>Harbor AI Agent</a:t>
            </a:r>
            <a:endParaRPr lang="en-US" sz="1000"/>
          </a:p>
        </p:txBody>
      </p:sp>
      <p:sp>
        <p:nvSpPr>
          <p:cNvPr id="9" name="Card 9"/>
          <p:cNvSpPr/>
          <p:nvPr/>
        </p:nvSpPr>
        <p:spPr>
          <a:xfrm>
            <a:off x="566928" y="1828800"/>
            <a:ext cx="5257800" cy="2011680"/>
          </a:xfrm>
          <a:prstGeom prst="roundRect">
            <a:avLst/>
          </a:prstGeom>
          <a:solidFill>
            <a:srgbClr val="111C30"/>
          </a:solidFill>
          <a:ln w="12700" cap="flat" cmpd="sng" algn="ctr">
            <a:solidFill>
              <a:srgbClr val="23405D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Accent 10"/>
          <p:cNvSpPr/>
          <p:nvPr/>
        </p:nvSpPr>
        <p:spPr>
          <a:xfrm>
            <a:off x="566928" y="1828800"/>
            <a:ext cx="525780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Card Title 11"/>
          <p:cNvSpPr txBox="1"/>
          <p:nvPr/>
        </p:nvSpPr>
        <p:spPr>
          <a:xfrm>
            <a:off x="694944" y="1938528"/>
            <a:ext cx="5001768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850" b="1" dirty="0" smtClean="0">
                <a:solidFill>
                  <a:srgbClr val="F8FAFC"/>
                </a:solidFill>
                <a:latin typeface="Aptos"/>
              </a:rPr>
              <a:t>Wrong approach</a:t>
            </a:r>
            <a:endParaRPr lang="en-US" sz="1850"/>
          </a:p>
        </p:txBody>
      </p:sp>
      <p:sp>
        <p:nvSpPr>
          <p:cNvPr id="12" name="Card Body 12"/>
          <p:cNvSpPr txBox="1"/>
          <p:nvPr/>
        </p:nvSpPr>
        <p:spPr>
          <a:xfrm>
            <a:off x="676656" y="2286000"/>
            <a:ext cx="5038344" cy="148132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Dependency uses file:../harborSharedModels</a:t>
            </a:r>
            <a:endParaRPr lang="en-US" sz="1180"/>
          </a:p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Breaks production-safe resolution</a:t>
            </a:r>
            <a:endParaRPr lang="en-US" sz="1180"/>
          </a:p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Creates deployment and reproducibility risks</a:t>
            </a:r>
            <a:endParaRPr lang="en-US" sz="1180"/>
          </a:p>
        </p:txBody>
      </p:sp>
      <p:sp>
        <p:nvSpPr>
          <p:cNvPr id="13" name="Wrong Code 13"/>
          <p:cNvSpPr txBox="1"/>
          <p:nvPr/>
        </p:nvSpPr>
        <p:spPr>
          <a:xfrm>
            <a:off x="841248" y="3154680"/>
            <a:ext cx="4663440" cy="384048"/>
          </a:xfrm>
          <a:prstGeom prst="roundRect">
            <a:avLst/>
          </a:prstGeom>
          <a:solidFill>
            <a:srgbClr val="0F1B2D"/>
          </a:solidFill>
          <a:ln w="12700" cap="flat" cmpd="sng" algn="ctr">
            <a:solidFill>
              <a:srgbClr val="23405D"/>
            </a:solidFill>
            <a:prstDash val="solid"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120" dirty="0" smtClean="0">
                <a:solidFill>
                  <a:srgbClr val="F8FAFC"/>
                </a:solidFill>
                <a:latin typeface="Courier New"/>
              </a:rPr>
              <a:t>"harbor-shared-models": "file:../harborSharedModels"</a:t>
            </a:r>
            <a:endParaRPr lang="en-US" sz="1120"/>
          </a:p>
        </p:txBody>
      </p:sp>
      <p:sp>
        <p:nvSpPr>
          <p:cNvPr id="14" name="Card 14"/>
          <p:cNvSpPr/>
          <p:nvPr/>
        </p:nvSpPr>
        <p:spPr>
          <a:xfrm>
            <a:off x="6355080" y="1828800"/>
            <a:ext cx="5257800" cy="2011680"/>
          </a:xfrm>
          <a:prstGeom prst="roundRect">
            <a:avLst/>
          </a:prstGeom>
          <a:solidFill>
            <a:srgbClr val="111C30"/>
          </a:solidFill>
          <a:ln w="12700" cap="flat" cmpd="sng" algn="ctr">
            <a:solidFill>
              <a:srgbClr val="23405D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Accent 15"/>
          <p:cNvSpPr/>
          <p:nvPr/>
        </p:nvSpPr>
        <p:spPr>
          <a:xfrm>
            <a:off x="6355080" y="1828800"/>
            <a:ext cx="525780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Card Title 16"/>
          <p:cNvSpPr txBox="1"/>
          <p:nvPr/>
        </p:nvSpPr>
        <p:spPr>
          <a:xfrm>
            <a:off x="6483096" y="1938528"/>
            <a:ext cx="5001768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850" b="1" dirty="0" smtClean="0">
                <a:solidFill>
                  <a:srgbClr val="F8FAFC"/>
                </a:solidFill>
                <a:latin typeface="Aptos"/>
              </a:rPr>
              <a:t>Correct approach</a:t>
            </a:r>
            <a:endParaRPr lang="en-US" sz="1850"/>
          </a:p>
        </p:txBody>
      </p:sp>
      <p:sp>
        <p:nvSpPr>
          <p:cNvPr id="17" name="Card Body 17"/>
          <p:cNvSpPr txBox="1"/>
          <p:nvPr/>
        </p:nvSpPr>
        <p:spPr>
          <a:xfrm>
            <a:off x="6464808" y="2286000"/>
            <a:ext cx="5038344" cy="148132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Increment shared model version</a:t>
            </a:r>
            <a:endParaRPr lang="en-US" sz="1180"/>
          </a:p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Update every dependent service to the new version</a:t>
            </a:r>
            <a:endParaRPr lang="en-US" sz="1180"/>
          </a:p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Run package install in affected services</a:t>
            </a:r>
            <a:endParaRPr lang="en-US" sz="1180"/>
          </a:p>
        </p:txBody>
      </p:sp>
      <p:sp>
        <p:nvSpPr>
          <p:cNvPr id="18" name="Right Code 18"/>
          <p:cNvSpPr txBox="1"/>
          <p:nvPr/>
        </p:nvSpPr>
        <p:spPr>
          <a:xfrm>
            <a:off x="6629400" y="3154680"/>
            <a:ext cx="4663440" cy="384048"/>
          </a:xfrm>
          <a:prstGeom prst="roundRect">
            <a:avLst/>
          </a:prstGeom>
          <a:solidFill>
            <a:srgbClr val="0F1B2D"/>
          </a:solidFill>
          <a:ln w="12700" cap="flat" cmpd="sng" algn="ctr">
            <a:solidFill>
              <a:srgbClr val="23405D"/>
            </a:solidFill>
            <a:prstDash val="solid"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120" dirty="0" smtClean="0">
                <a:solidFill>
                  <a:srgbClr val="F8FAFC"/>
                </a:solidFill>
                <a:latin typeface="Courier New"/>
              </a:rPr>
              <a:t>"harbor-shared-models": "1.2.5"</a:t>
            </a:r>
            <a:endParaRPr lang="en-US" sz="1120"/>
          </a:p>
        </p:txBody>
      </p:sp>
      <p:sp>
        <p:nvSpPr>
          <p:cNvPr id="19" name="Process 19"/>
          <p:cNvSpPr/>
          <p:nvPr/>
        </p:nvSpPr>
        <p:spPr>
          <a:xfrm>
            <a:off x="868680" y="4800600"/>
            <a:ext cx="2148840" cy="960120"/>
          </a:xfrm>
          <a:prstGeom prst="roundRect">
            <a:avLst/>
          </a:prstGeom>
          <a:solidFill>
            <a:srgbClr val="111C30"/>
          </a:solidFill>
          <a:ln w="12700" cap="flat" cmpd="sng" algn="ctr">
            <a:solidFill>
              <a:srgbClr val="23405D"/>
            </a:solidFill>
            <a:prstDash val="solid"/>
          </a:ln>
        </p:spPr>
        <p:txBody>
          <a:bodyPr/>
          <a:lstStyle/>
          <a:p/>
        </p:txBody>
      </p:sp>
      <p:sp>
        <p:nvSpPr>
          <p:cNvPr id="20" name="Process Badge 20"/>
          <p:cNvSpPr/>
          <p:nvPr/>
        </p:nvSpPr>
        <p:spPr>
          <a:xfrm>
            <a:off x="960120" y="4919472"/>
            <a:ext cx="310896" cy="310896"/>
          </a:xfrm>
          <a:prstGeom prst="roundRect">
            <a:avLst/>
          </a:prstGeom>
          <a:solidFill>
            <a:srgbClr val="35D0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Process No 21"/>
          <p:cNvSpPr txBox="1"/>
          <p:nvPr/>
        </p:nvSpPr>
        <p:spPr>
          <a:xfrm>
            <a:off x="1051560" y="4965192"/>
            <a:ext cx="128016" cy="146304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ctr"/>
            <a:r>
              <a:rPr lang="en-US" sz="880" b="1" dirty="0" smtClean="0">
                <a:solidFill>
                  <a:srgbClr val="08111F"/>
                </a:solidFill>
                <a:latin typeface="Aptos"/>
              </a:rPr>
              <a:t>1</a:t>
            </a:r>
            <a:endParaRPr lang="en-US" sz="880"/>
          </a:p>
        </p:txBody>
      </p:sp>
      <p:sp>
        <p:nvSpPr>
          <p:cNvPr id="22" name="Process Text 22"/>
          <p:cNvSpPr txBox="1"/>
          <p:nvPr/>
        </p:nvSpPr>
        <p:spPr>
          <a:xfrm>
            <a:off x="1371600" y="4937760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040" b="1" dirty="0" smtClean="0">
                <a:solidFill>
                  <a:srgbClr val="F8FAFC"/>
                </a:solidFill>
                <a:latin typeface="Aptos"/>
              </a:rPr>
              <a:t>Bump shared model version</a:t>
            </a:r>
            <a:endParaRPr lang="en-US" sz="1040"/>
          </a:p>
        </p:txBody>
      </p:sp>
      <p:sp>
        <p:nvSpPr>
          <p:cNvPr id="23" name="Process 23"/>
          <p:cNvSpPr/>
          <p:nvPr/>
        </p:nvSpPr>
        <p:spPr>
          <a:xfrm>
            <a:off x="3749039" y="4800600"/>
            <a:ext cx="2148840" cy="960120"/>
          </a:xfrm>
          <a:prstGeom prst="roundRect">
            <a:avLst/>
          </a:prstGeom>
          <a:solidFill>
            <a:srgbClr val="111C30"/>
          </a:solidFill>
          <a:ln w="12700" cap="flat" cmpd="sng" algn="ctr">
            <a:solidFill>
              <a:srgbClr val="23405D"/>
            </a:solidFill>
            <a:prstDash val="solid"/>
          </a:ln>
        </p:spPr>
        <p:txBody>
          <a:bodyPr/>
          <a:lstStyle/>
          <a:p/>
        </p:txBody>
      </p:sp>
      <p:sp>
        <p:nvSpPr>
          <p:cNvPr id="24" name="Process Badge 24"/>
          <p:cNvSpPr/>
          <p:nvPr/>
        </p:nvSpPr>
        <p:spPr>
          <a:xfrm>
            <a:off x="3840479" y="4919472"/>
            <a:ext cx="310896" cy="310896"/>
          </a:xfrm>
          <a:prstGeom prst="roundRect">
            <a:avLst/>
          </a:prstGeom>
          <a:solidFill>
            <a:srgbClr val="35D0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Process No 25"/>
          <p:cNvSpPr txBox="1"/>
          <p:nvPr/>
        </p:nvSpPr>
        <p:spPr>
          <a:xfrm>
            <a:off x="3931920" y="4965192"/>
            <a:ext cx="128016" cy="146304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ctr"/>
            <a:r>
              <a:rPr lang="en-US" sz="880" b="1" dirty="0" smtClean="0">
                <a:solidFill>
                  <a:srgbClr val="08111F"/>
                </a:solidFill>
                <a:latin typeface="Aptos"/>
              </a:rPr>
              <a:t>2</a:t>
            </a:r>
            <a:endParaRPr lang="en-US" sz="880"/>
          </a:p>
        </p:txBody>
      </p:sp>
      <p:sp>
        <p:nvSpPr>
          <p:cNvPr id="26" name="Process Text 26"/>
          <p:cNvSpPr txBox="1"/>
          <p:nvPr/>
        </p:nvSpPr>
        <p:spPr>
          <a:xfrm>
            <a:off x="4251959" y="4937760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040" b="1" dirty="0" smtClean="0">
                <a:solidFill>
                  <a:srgbClr val="F8FAFC"/>
                </a:solidFill>
                <a:latin typeface="Aptos"/>
              </a:rPr>
              <a:t>Update service dependencies</a:t>
            </a:r>
            <a:endParaRPr lang="en-US" sz="1040"/>
          </a:p>
        </p:txBody>
      </p:sp>
      <p:sp>
        <p:nvSpPr>
          <p:cNvPr id="27" name="Process 27"/>
          <p:cNvSpPr/>
          <p:nvPr/>
        </p:nvSpPr>
        <p:spPr>
          <a:xfrm>
            <a:off x="6629400" y="4800600"/>
            <a:ext cx="2148840" cy="960120"/>
          </a:xfrm>
          <a:prstGeom prst="roundRect">
            <a:avLst/>
          </a:prstGeom>
          <a:solidFill>
            <a:srgbClr val="111C30"/>
          </a:solidFill>
          <a:ln w="12700" cap="flat" cmpd="sng" algn="ctr">
            <a:solidFill>
              <a:srgbClr val="23405D"/>
            </a:solidFill>
            <a:prstDash val="solid"/>
          </a:ln>
        </p:spPr>
        <p:txBody>
          <a:bodyPr/>
          <a:lstStyle/>
          <a:p/>
        </p:txBody>
      </p:sp>
      <p:sp>
        <p:nvSpPr>
          <p:cNvPr id="28" name="Process Badge 28"/>
          <p:cNvSpPr/>
          <p:nvPr/>
        </p:nvSpPr>
        <p:spPr>
          <a:xfrm>
            <a:off x="6720840" y="4919472"/>
            <a:ext cx="310896" cy="310896"/>
          </a:xfrm>
          <a:prstGeom prst="roundRect">
            <a:avLst/>
          </a:prstGeom>
          <a:solidFill>
            <a:srgbClr val="35D0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Process No 29"/>
          <p:cNvSpPr txBox="1"/>
          <p:nvPr/>
        </p:nvSpPr>
        <p:spPr>
          <a:xfrm>
            <a:off x="6812280" y="4965192"/>
            <a:ext cx="128016" cy="146304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ctr"/>
            <a:r>
              <a:rPr lang="en-US" sz="880" b="1" dirty="0" smtClean="0">
                <a:solidFill>
                  <a:srgbClr val="08111F"/>
                </a:solidFill>
                <a:latin typeface="Aptos"/>
              </a:rPr>
              <a:t>3</a:t>
            </a:r>
            <a:endParaRPr lang="en-US" sz="880"/>
          </a:p>
        </p:txBody>
      </p:sp>
      <p:sp>
        <p:nvSpPr>
          <p:cNvPr id="30" name="Process Text 30"/>
          <p:cNvSpPr txBox="1"/>
          <p:nvPr/>
        </p:nvSpPr>
        <p:spPr>
          <a:xfrm>
            <a:off x="7132320" y="4937760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040" b="1" dirty="0" smtClean="0">
                <a:solidFill>
                  <a:srgbClr val="F8FAFC"/>
                </a:solidFill>
                <a:latin typeface="Aptos"/>
              </a:rPr>
              <a:t>Run install and verify</a:t>
            </a:r>
            <a:endParaRPr lang="en-US" sz="1040"/>
          </a:p>
        </p:txBody>
      </p:sp>
      <p:sp>
        <p:nvSpPr>
          <p:cNvPr id="31" name="Process 31"/>
          <p:cNvSpPr/>
          <p:nvPr/>
        </p:nvSpPr>
        <p:spPr>
          <a:xfrm>
            <a:off x="9509760" y="4800600"/>
            <a:ext cx="2148840" cy="960120"/>
          </a:xfrm>
          <a:prstGeom prst="roundRect">
            <a:avLst/>
          </a:prstGeom>
          <a:solidFill>
            <a:srgbClr val="111C30"/>
          </a:solidFill>
          <a:ln w="12700" cap="flat" cmpd="sng" algn="ctr">
            <a:solidFill>
              <a:srgbClr val="23405D"/>
            </a:solidFill>
            <a:prstDash val="solid"/>
          </a:ln>
        </p:spPr>
        <p:txBody>
          <a:bodyPr/>
          <a:lstStyle/>
          <a:p/>
        </p:txBody>
      </p:sp>
      <p:sp>
        <p:nvSpPr>
          <p:cNvPr id="32" name="Process Badge 32"/>
          <p:cNvSpPr/>
          <p:nvPr/>
        </p:nvSpPr>
        <p:spPr>
          <a:xfrm>
            <a:off x="9601200" y="4919472"/>
            <a:ext cx="310896" cy="310896"/>
          </a:xfrm>
          <a:prstGeom prst="roundRect">
            <a:avLst/>
          </a:prstGeom>
          <a:solidFill>
            <a:srgbClr val="35D0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Process No 33"/>
          <p:cNvSpPr txBox="1"/>
          <p:nvPr/>
        </p:nvSpPr>
        <p:spPr>
          <a:xfrm>
            <a:off x="9692640" y="4965192"/>
            <a:ext cx="128016" cy="146304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ctr"/>
            <a:r>
              <a:rPr lang="en-US" sz="880" b="1" dirty="0" smtClean="0">
                <a:solidFill>
                  <a:srgbClr val="08111F"/>
                </a:solidFill>
                <a:latin typeface="Aptos"/>
              </a:rPr>
              <a:t>4</a:t>
            </a:r>
            <a:endParaRPr lang="en-US" sz="880"/>
          </a:p>
        </p:txBody>
      </p:sp>
      <p:sp>
        <p:nvSpPr>
          <p:cNvPr id="34" name="Process Text 34"/>
          <p:cNvSpPr txBox="1"/>
          <p:nvPr/>
        </p:nvSpPr>
        <p:spPr>
          <a:xfrm>
            <a:off x="10012680" y="4937760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040" b="1" dirty="0" smtClean="0">
                <a:solidFill>
                  <a:srgbClr val="F8FAFC"/>
                </a:solidFill>
                <a:latin typeface="Aptos"/>
              </a:rPr>
              <a:t>Continue implementation</a:t>
            </a:r>
            <a:endParaRPr lang="en-US" sz="104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icket Handling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5D0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ection Pill 3"/>
          <p:cNvSpPr/>
          <p:nvPr/>
        </p:nvSpPr>
        <p:spPr>
          <a:xfrm>
            <a:off x="384048" y="384048"/>
            <a:ext cx="1965960" cy="329184"/>
          </a:xfrm>
          <a:prstGeom prst="roundRect">
            <a:avLst/>
          </a:prstGeom>
          <a:solidFill>
            <a:srgbClr val="16243B"/>
          </a:solidFill>
          <a:ln w="12700" cap="flat" cmpd="sng" algn="ctr">
            <a:solidFill>
              <a:srgbClr val="35D0FF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Section Text 4"/>
          <p:cNvSpPr txBox="1"/>
          <p:nvPr/>
        </p:nvSpPr>
        <p:spPr>
          <a:xfrm>
            <a:off x="502920" y="420624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950" b="1" dirty="0" smtClean="0">
                <a:solidFill>
                  <a:srgbClr val="35D0FF"/>
                </a:solidFill>
                <a:latin typeface="Aptos"/>
              </a:rPr>
              <a:t>07 AZURE DEVOPS</a:t>
            </a:r>
            <a:endParaRPr lang="en-US" sz="950"/>
          </a:p>
        </p:txBody>
      </p:sp>
      <p:sp>
        <p:nvSpPr>
          <p:cNvPr id="5" name="Title 5"/>
          <p:cNvSpPr txBox="1"/>
          <p:nvPr/>
        </p:nvSpPr>
        <p:spPr>
          <a:xfrm>
            <a:off x="493776" y="868680"/>
            <a:ext cx="7955279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2600" b="1" dirty="0" smtClean="0">
                <a:solidFill>
                  <a:srgbClr val="F8FAFC"/>
                </a:solidFill>
                <a:latin typeface="Aptos"/>
              </a:rPr>
              <a:t>Ticket Handling Rules</a:t>
            </a:r>
            <a:endParaRPr lang="en-US" sz="2600"/>
          </a:p>
        </p:txBody>
      </p:sp>
      <p:sp>
        <p:nvSpPr>
          <p:cNvPr id="6" name="Subtitle 6"/>
          <p:cNvSpPr txBox="1"/>
          <p:nvPr/>
        </p:nvSpPr>
        <p:spPr>
          <a:xfrm>
            <a:off x="512064" y="1371600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180" dirty="0" smtClean="0">
                <a:solidFill>
                  <a:srgbClr val="94A3B8"/>
                </a:solidFill>
                <a:latin typeface="Aptos"/>
              </a:rPr>
              <a:t>The agent processes only active work and closes tickets only after delivery output is created.</a:t>
            </a:r>
            <a:endParaRPr lang="en-US" sz="1180"/>
          </a:p>
        </p:txBody>
      </p:sp>
      <p:sp>
        <p:nvSpPr>
          <p:cNvPr id="7" name="Footer No 7"/>
          <p:cNvSpPr txBox="1"/>
          <p:nvPr/>
        </p:nvSpPr>
        <p:spPr>
          <a:xfrm>
            <a:off x="10881360" y="640080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r"/>
            <a:r>
              <a:rPr lang="en-US" sz="1000" b="1" dirty="0" smtClean="0">
                <a:solidFill>
                  <a:srgbClr val="94A3B8"/>
                </a:solidFill>
                <a:latin typeface="Aptos"/>
              </a:rPr>
              <a:t>09</a:t>
            </a:r>
            <a:endParaRPr lang="en-US" sz="1000"/>
          </a:p>
        </p:txBody>
      </p:sp>
      <p:sp>
        <p:nvSpPr>
          <p:cNvPr id="8" name="Footer Text 8"/>
          <p:cNvSpPr txBox="1"/>
          <p:nvPr/>
        </p:nvSpPr>
        <p:spPr>
          <a:xfrm>
            <a:off x="457200" y="6400800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000" dirty="0" smtClean="0">
                <a:solidFill>
                  <a:srgbClr val="94A3B8"/>
                </a:solidFill>
                <a:latin typeface="Aptos"/>
              </a:rPr>
              <a:t>Harbor AI Agent</a:t>
            </a:r>
            <a:endParaRPr lang="en-US" sz="1000"/>
          </a:p>
        </p:txBody>
      </p:sp>
      <p:sp>
        <p:nvSpPr>
          <p:cNvPr id="9" name="Ticket Flow 9"/>
          <p:cNvSpPr/>
          <p:nvPr/>
        </p:nvSpPr>
        <p:spPr>
          <a:xfrm>
            <a:off x="640080" y="1847088"/>
            <a:ext cx="4069080" cy="4069080"/>
          </a:xfrm>
          <a:prstGeom prst="roundRect">
            <a:avLst/>
          </a:prstGeom>
          <a:solidFill>
            <a:srgbClr val="111C30"/>
          </a:solidFill>
          <a:ln w="12700" cap="flat" cmpd="sng" algn="ctr">
            <a:solidFill>
              <a:srgbClr val="23405D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Ticket Badge 10"/>
          <p:cNvSpPr/>
          <p:nvPr/>
        </p:nvSpPr>
        <p:spPr>
          <a:xfrm>
            <a:off x="914400" y="2148840"/>
            <a:ext cx="384048" cy="38404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icket No 11"/>
          <p:cNvSpPr txBox="1"/>
          <p:nvPr/>
        </p:nvSpPr>
        <p:spPr>
          <a:xfrm>
            <a:off x="987552" y="2194560"/>
            <a:ext cx="164592" cy="146304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ctr"/>
            <a:r>
              <a:rPr lang="en-US" sz="880" b="1" dirty="0" smtClean="0">
                <a:solidFill>
                  <a:srgbClr val="08111F"/>
                </a:solidFill>
                <a:latin typeface="Aptos"/>
              </a:rPr>
              <a:t>1</a:t>
            </a:r>
            <a:endParaRPr lang="en-US" sz="880"/>
          </a:p>
        </p:txBody>
      </p:sp>
      <p:sp>
        <p:nvSpPr>
          <p:cNvPr id="12" name="Ticket Text 12"/>
          <p:cNvSpPr txBox="1"/>
          <p:nvPr/>
        </p:nvSpPr>
        <p:spPr>
          <a:xfrm>
            <a:off x="1444752" y="2176272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200" b="1" dirty="0" smtClean="0">
                <a:solidFill>
                  <a:srgbClr val="F8FAFC"/>
                </a:solidFill>
                <a:latin typeface="Aptos"/>
              </a:rPr>
              <a:t>Fetch only Active tickets</a:t>
            </a:r>
            <a:endParaRPr lang="en-US" sz="1200"/>
          </a:p>
        </p:txBody>
      </p:sp>
      <p:sp>
        <p:nvSpPr>
          <p:cNvPr id="13" name="Ticket Badge 13"/>
          <p:cNvSpPr/>
          <p:nvPr/>
        </p:nvSpPr>
        <p:spPr>
          <a:xfrm>
            <a:off x="914400" y="2880360"/>
            <a:ext cx="384048" cy="38404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icket No 14"/>
          <p:cNvSpPr txBox="1"/>
          <p:nvPr/>
        </p:nvSpPr>
        <p:spPr>
          <a:xfrm>
            <a:off x="987552" y="2926079"/>
            <a:ext cx="164592" cy="146304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ctr"/>
            <a:r>
              <a:rPr lang="en-US" sz="880" b="1" dirty="0" smtClean="0">
                <a:solidFill>
                  <a:srgbClr val="08111F"/>
                </a:solidFill>
                <a:latin typeface="Aptos"/>
              </a:rPr>
              <a:t>2</a:t>
            </a:r>
            <a:endParaRPr lang="en-US" sz="880"/>
          </a:p>
        </p:txBody>
      </p:sp>
      <p:sp>
        <p:nvSpPr>
          <p:cNvPr id="15" name="Ticket Text 15"/>
          <p:cNvSpPr txBox="1"/>
          <p:nvPr/>
        </p:nvSpPr>
        <p:spPr>
          <a:xfrm>
            <a:off x="1444752" y="2907791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200" b="1" dirty="0" smtClean="0">
                <a:solidFill>
                  <a:srgbClr val="F8FAFC"/>
                </a:solidFill>
                <a:latin typeface="Aptos"/>
              </a:rPr>
              <a:t>Analyze requirements and affected services</a:t>
            </a:r>
            <a:endParaRPr lang="en-US" sz="1200"/>
          </a:p>
        </p:txBody>
      </p:sp>
      <p:sp>
        <p:nvSpPr>
          <p:cNvPr id="16" name="Ticket Badge 16"/>
          <p:cNvSpPr/>
          <p:nvPr/>
        </p:nvSpPr>
        <p:spPr>
          <a:xfrm>
            <a:off x="914400" y="3611880"/>
            <a:ext cx="384048" cy="38404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icket No 17"/>
          <p:cNvSpPr txBox="1"/>
          <p:nvPr/>
        </p:nvSpPr>
        <p:spPr>
          <a:xfrm>
            <a:off x="987552" y="3657600"/>
            <a:ext cx="164592" cy="146304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ctr"/>
            <a:r>
              <a:rPr lang="en-US" sz="880" b="1" dirty="0" smtClean="0">
                <a:solidFill>
                  <a:srgbClr val="08111F"/>
                </a:solidFill>
                <a:latin typeface="Aptos"/>
              </a:rPr>
              <a:t>3</a:t>
            </a:r>
            <a:endParaRPr lang="en-US" sz="880"/>
          </a:p>
        </p:txBody>
      </p:sp>
      <p:sp>
        <p:nvSpPr>
          <p:cNvPr id="18" name="Ticket Text 18"/>
          <p:cNvSpPr txBox="1"/>
          <p:nvPr/>
        </p:nvSpPr>
        <p:spPr>
          <a:xfrm>
            <a:off x="1444752" y="3639312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200" b="1" dirty="0" smtClean="0">
                <a:solidFill>
                  <a:srgbClr val="F8FAFC"/>
                </a:solidFill>
                <a:latin typeface="Aptos"/>
              </a:rPr>
              <a:t>Implement, test, and create PR</a:t>
            </a:r>
            <a:endParaRPr lang="en-US" sz="1200"/>
          </a:p>
        </p:txBody>
      </p:sp>
      <p:sp>
        <p:nvSpPr>
          <p:cNvPr id="19" name="Ticket Badge 19"/>
          <p:cNvSpPr/>
          <p:nvPr/>
        </p:nvSpPr>
        <p:spPr>
          <a:xfrm>
            <a:off x="914400" y="4343400"/>
            <a:ext cx="384048" cy="38404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icket No 20"/>
          <p:cNvSpPr txBox="1"/>
          <p:nvPr/>
        </p:nvSpPr>
        <p:spPr>
          <a:xfrm>
            <a:off x="987552" y="4389120"/>
            <a:ext cx="164592" cy="146304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ctr"/>
            <a:r>
              <a:rPr lang="en-US" sz="880" b="1" dirty="0" smtClean="0">
                <a:solidFill>
                  <a:srgbClr val="08111F"/>
                </a:solidFill>
                <a:latin typeface="Aptos"/>
              </a:rPr>
              <a:t>4</a:t>
            </a:r>
            <a:endParaRPr lang="en-US" sz="880"/>
          </a:p>
        </p:txBody>
      </p:sp>
      <p:sp>
        <p:nvSpPr>
          <p:cNvPr id="21" name="Ticket Text 21"/>
          <p:cNvSpPr txBox="1"/>
          <p:nvPr/>
        </p:nvSpPr>
        <p:spPr>
          <a:xfrm>
            <a:off x="1444752" y="4370832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200" b="1" dirty="0" smtClean="0">
                <a:solidFill>
                  <a:srgbClr val="F8FAFC"/>
                </a:solidFill>
                <a:latin typeface="Aptos"/>
              </a:rPr>
              <a:t>PATCH ticket state to Closed</a:t>
            </a:r>
            <a:endParaRPr lang="en-US" sz="1200"/>
          </a:p>
        </p:txBody>
      </p:sp>
      <p:sp>
        <p:nvSpPr>
          <p:cNvPr id="22" name="Ticket Badge 22"/>
          <p:cNvSpPr/>
          <p:nvPr/>
        </p:nvSpPr>
        <p:spPr>
          <a:xfrm>
            <a:off x="914400" y="5074920"/>
            <a:ext cx="384048" cy="38404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icket No 23"/>
          <p:cNvSpPr txBox="1"/>
          <p:nvPr/>
        </p:nvSpPr>
        <p:spPr>
          <a:xfrm>
            <a:off x="987552" y="5120640"/>
            <a:ext cx="164592" cy="146304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ctr"/>
            <a:r>
              <a:rPr lang="en-US" sz="880" b="1" dirty="0" smtClean="0">
                <a:solidFill>
                  <a:srgbClr val="08111F"/>
                </a:solidFill>
                <a:latin typeface="Aptos"/>
              </a:rPr>
              <a:t>5</a:t>
            </a:r>
            <a:endParaRPr lang="en-US" sz="880"/>
          </a:p>
        </p:txBody>
      </p:sp>
      <p:sp>
        <p:nvSpPr>
          <p:cNvPr id="24" name="Ticket Text 24"/>
          <p:cNvSpPr txBox="1"/>
          <p:nvPr/>
        </p:nvSpPr>
        <p:spPr>
          <a:xfrm>
            <a:off x="1444752" y="5102352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200" b="1" dirty="0" smtClean="0">
                <a:solidFill>
                  <a:srgbClr val="F8FAFC"/>
                </a:solidFill>
                <a:latin typeface="Aptos"/>
              </a:rPr>
              <a:t>Add PR link and summary comment</a:t>
            </a:r>
            <a:endParaRPr lang="en-US" sz="1200"/>
          </a:p>
        </p:txBody>
      </p:sp>
      <p:sp>
        <p:nvSpPr>
          <p:cNvPr id="25" name="Card 25"/>
          <p:cNvSpPr/>
          <p:nvPr/>
        </p:nvSpPr>
        <p:spPr>
          <a:xfrm>
            <a:off x="5074920" y="1847088"/>
            <a:ext cx="2971800" cy="1828800"/>
          </a:xfrm>
          <a:prstGeom prst="roundRect">
            <a:avLst/>
          </a:prstGeom>
          <a:solidFill>
            <a:srgbClr val="111C30"/>
          </a:solidFill>
          <a:ln w="12700" cap="flat" cmpd="sng" algn="ctr">
            <a:solidFill>
              <a:srgbClr val="23405D"/>
            </a:solidFill>
            <a:prstDash val="solid"/>
          </a:ln>
        </p:spPr>
        <p:txBody>
          <a:bodyPr/>
          <a:lstStyle/>
          <a:p/>
        </p:txBody>
      </p:sp>
      <p:sp>
        <p:nvSpPr>
          <p:cNvPr id="26" name="Accent 26"/>
          <p:cNvSpPr/>
          <p:nvPr/>
        </p:nvSpPr>
        <p:spPr>
          <a:xfrm>
            <a:off x="5074920" y="1847088"/>
            <a:ext cx="297180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Card Title 27"/>
          <p:cNvSpPr txBox="1"/>
          <p:nvPr/>
        </p:nvSpPr>
        <p:spPr>
          <a:xfrm>
            <a:off x="5202936" y="1956816"/>
            <a:ext cx="2715768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850" b="1" dirty="0" smtClean="0">
                <a:solidFill>
                  <a:srgbClr val="F8FAFC"/>
                </a:solidFill>
                <a:latin typeface="Aptos"/>
              </a:rPr>
              <a:t>Always</a:t>
            </a:r>
            <a:endParaRPr lang="en-US" sz="1850"/>
          </a:p>
        </p:txBody>
      </p:sp>
      <p:sp>
        <p:nvSpPr>
          <p:cNvPr id="28" name="Card Body 28"/>
          <p:cNvSpPr txBox="1"/>
          <p:nvPr/>
        </p:nvSpPr>
        <p:spPr>
          <a:xfrm>
            <a:off x="5184648" y="2304288"/>
            <a:ext cx="2752344" cy="129844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Filter for Active state only</a:t>
            </a:r>
            <a:endParaRPr lang="en-US" sz="1180"/>
          </a:p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Verify closure succeeds</a:t>
            </a:r>
            <a:endParaRPr lang="en-US" sz="1180"/>
          </a:p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Retry failed updates up to 3 times</a:t>
            </a:r>
            <a:endParaRPr lang="en-US" sz="1180"/>
          </a:p>
        </p:txBody>
      </p:sp>
      <p:sp>
        <p:nvSpPr>
          <p:cNvPr id="29" name="Card 29"/>
          <p:cNvSpPr/>
          <p:nvPr/>
        </p:nvSpPr>
        <p:spPr>
          <a:xfrm>
            <a:off x="8321040" y="1847088"/>
            <a:ext cx="2971800" cy="1828800"/>
          </a:xfrm>
          <a:prstGeom prst="roundRect">
            <a:avLst/>
          </a:prstGeom>
          <a:solidFill>
            <a:srgbClr val="111C30"/>
          </a:solidFill>
          <a:ln w="12700" cap="flat" cmpd="sng" algn="ctr">
            <a:solidFill>
              <a:srgbClr val="23405D"/>
            </a:solidFill>
            <a:prstDash val="solid"/>
          </a:ln>
        </p:spPr>
        <p:txBody>
          <a:bodyPr/>
          <a:lstStyle/>
          <a:p/>
        </p:txBody>
      </p:sp>
      <p:sp>
        <p:nvSpPr>
          <p:cNvPr id="30" name="Accent 30"/>
          <p:cNvSpPr/>
          <p:nvPr/>
        </p:nvSpPr>
        <p:spPr>
          <a:xfrm>
            <a:off x="8321040" y="1847088"/>
            <a:ext cx="297180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Card Title 31"/>
          <p:cNvSpPr txBox="1"/>
          <p:nvPr/>
        </p:nvSpPr>
        <p:spPr>
          <a:xfrm>
            <a:off x="8449056" y="1956816"/>
            <a:ext cx="2715768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850" b="1" dirty="0" smtClean="0">
                <a:solidFill>
                  <a:srgbClr val="F8FAFC"/>
                </a:solidFill>
                <a:latin typeface="Aptos"/>
              </a:rPr>
              <a:t>Never</a:t>
            </a:r>
            <a:endParaRPr lang="en-US" sz="1850"/>
          </a:p>
        </p:txBody>
      </p:sp>
      <p:sp>
        <p:nvSpPr>
          <p:cNvPr id="32" name="Card Body 32"/>
          <p:cNvSpPr txBox="1"/>
          <p:nvPr/>
        </p:nvSpPr>
        <p:spPr>
          <a:xfrm>
            <a:off x="8430767" y="2304288"/>
            <a:ext cx="2752344" cy="129844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Process Resolved or Closed items</a:t>
            </a:r>
            <a:endParaRPr lang="en-US" sz="1180"/>
          </a:p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Skip ticket closure after delivery</a:t>
            </a:r>
            <a:endParaRPr lang="en-US" sz="1180"/>
          </a:p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Update state without output evidence</a:t>
            </a:r>
            <a:endParaRPr lang="en-US" sz="1180"/>
          </a:p>
        </p:txBody>
      </p:sp>
      <p:sp>
        <p:nvSpPr>
          <p:cNvPr id="33" name="Card 33"/>
          <p:cNvSpPr/>
          <p:nvPr/>
        </p:nvSpPr>
        <p:spPr>
          <a:xfrm>
            <a:off x="5074920" y="3913632"/>
            <a:ext cx="6217920" cy="2011680"/>
          </a:xfrm>
          <a:prstGeom prst="roundRect">
            <a:avLst/>
          </a:prstGeom>
          <a:solidFill>
            <a:srgbClr val="111C30"/>
          </a:solidFill>
          <a:ln w="12700" cap="flat" cmpd="sng" algn="ctr">
            <a:solidFill>
              <a:srgbClr val="23405D"/>
            </a:solidFill>
            <a:prstDash val="solid"/>
          </a:ln>
        </p:spPr>
        <p:txBody>
          <a:bodyPr/>
          <a:lstStyle/>
          <a:p/>
        </p:txBody>
      </p:sp>
      <p:sp>
        <p:nvSpPr>
          <p:cNvPr id="34" name="Accent 34"/>
          <p:cNvSpPr/>
          <p:nvPr/>
        </p:nvSpPr>
        <p:spPr>
          <a:xfrm>
            <a:off x="5074920" y="3913632"/>
            <a:ext cx="6217920" cy="73152"/>
          </a:xfrm>
          <a:prstGeom prst="rect">
            <a:avLst/>
          </a:prstGeom>
          <a:solidFill>
            <a:srgbClr val="35D0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Card Title 35"/>
          <p:cNvSpPr txBox="1"/>
          <p:nvPr/>
        </p:nvSpPr>
        <p:spPr>
          <a:xfrm>
            <a:off x="5202936" y="4023360"/>
            <a:ext cx="5961888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850" b="1" dirty="0" smtClean="0">
                <a:solidFill>
                  <a:srgbClr val="F8FAFC"/>
                </a:solidFill>
                <a:latin typeface="Aptos"/>
              </a:rPr>
              <a:t>API focus</a:t>
            </a:r>
            <a:endParaRPr lang="en-US" sz="1850"/>
          </a:p>
        </p:txBody>
      </p:sp>
      <p:sp>
        <p:nvSpPr>
          <p:cNvPr id="36" name="Card Body 36"/>
          <p:cNvSpPr txBox="1"/>
          <p:nvPr/>
        </p:nvSpPr>
        <p:spPr>
          <a:xfrm>
            <a:off x="5184648" y="4370832"/>
            <a:ext cx="5998464" cy="148132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PATCH work item state to Closed with reason Completed</a:t>
            </a:r>
            <a:endParaRPr lang="en-US" sz="1180"/>
          </a:p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POST implementation summary and PR link comment</a:t>
            </a:r>
            <a:endParaRPr lang="en-US" sz="1180"/>
          </a:p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Use PAT-based authentication against Azure DevOps API v6.0</a:t>
            </a:r>
            <a:endParaRPr lang="en-US" sz="118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ashboard and Environment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5D0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ection Pill 3"/>
          <p:cNvSpPr/>
          <p:nvPr/>
        </p:nvSpPr>
        <p:spPr>
          <a:xfrm>
            <a:off x="384048" y="384048"/>
            <a:ext cx="1965960" cy="329184"/>
          </a:xfrm>
          <a:prstGeom prst="roundRect">
            <a:avLst/>
          </a:prstGeom>
          <a:solidFill>
            <a:srgbClr val="16243B"/>
          </a:solidFill>
          <a:ln w="12700" cap="flat" cmpd="sng" algn="ctr">
            <a:solidFill>
              <a:srgbClr val="35D0FF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Section Text 4"/>
          <p:cNvSpPr txBox="1"/>
          <p:nvPr/>
        </p:nvSpPr>
        <p:spPr>
          <a:xfrm>
            <a:off x="502920" y="420624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950" b="1" dirty="0" smtClean="0">
                <a:solidFill>
                  <a:srgbClr val="35D0FF"/>
                </a:solidFill>
                <a:latin typeface="Aptos"/>
              </a:rPr>
              <a:t>08 OPERATIONS</a:t>
            </a:r>
            <a:endParaRPr lang="en-US" sz="950"/>
          </a:p>
        </p:txBody>
      </p:sp>
      <p:sp>
        <p:nvSpPr>
          <p:cNvPr id="5" name="Title 5"/>
          <p:cNvSpPr txBox="1"/>
          <p:nvPr/>
        </p:nvSpPr>
        <p:spPr>
          <a:xfrm>
            <a:off x="493776" y="868680"/>
            <a:ext cx="7955279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2600" b="1" dirty="0" smtClean="0">
                <a:solidFill>
                  <a:srgbClr val="F8FAFC"/>
                </a:solidFill>
                <a:latin typeface="Aptos"/>
              </a:rPr>
              <a:t>Dashboard Visibility and Environment Rules</a:t>
            </a:r>
            <a:endParaRPr lang="en-US" sz="2600"/>
          </a:p>
        </p:txBody>
      </p:sp>
      <p:sp>
        <p:nvSpPr>
          <p:cNvPr id="6" name="Subtitle 6"/>
          <p:cNvSpPr txBox="1"/>
          <p:nvPr/>
        </p:nvSpPr>
        <p:spPr>
          <a:xfrm>
            <a:off x="512064" y="1371600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180" dirty="0" smtClean="0">
                <a:solidFill>
                  <a:srgbClr val="94A3B8"/>
                </a:solidFill>
                <a:latin typeface="Aptos"/>
              </a:rPr>
              <a:t>Operational transparency and resilient configuration handling keep the workflow moving.</a:t>
            </a:r>
            <a:endParaRPr lang="en-US" sz="1180"/>
          </a:p>
        </p:txBody>
      </p:sp>
      <p:sp>
        <p:nvSpPr>
          <p:cNvPr id="7" name="Footer No 7"/>
          <p:cNvSpPr txBox="1"/>
          <p:nvPr/>
        </p:nvSpPr>
        <p:spPr>
          <a:xfrm>
            <a:off x="10881360" y="640080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r"/>
            <a:r>
              <a:rPr lang="en-US" sz="1000" b="1" dirty="0" smtClean="0">
                <a:solidFill>
                  <a:srgbClr val="94A3B8"/>
                </a:solidFill>
                <a:latin typeface="Aptos"/>
              </a:rPr>
              <a:t>10</a:t>
            </a:r>
            <a:endParaRPr lang="en-US" sz="1000"/>
          </a:p>
        </p:txBody>
      </p:sp>
      <p:sp>
        <p:nvSpPr>
          <p:cNvPr id="8" name="Footer Text 8"/>
          <p:cNvSpPr txBox="1"/>
          <p:nvPr/>
        </p:nvSpPr>
        <p:spPr>
          <a:xfrm>
            <a:off x="457200" y="6400800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000" dirty="0" smtClean="0">
                <a:solidFill>
                  <a:srgbClr val="94A3B8"/>
                </a:solidFill>
                <a:latin typeface="Aptos"/>
              </a:rPr>
              <a:t>Harbor AI Agent</a:t>
            </a:r>
            <a:endParaRPr lang="en-US" sz="1000"/>
          </a:p>
        </p:txBody>
      </p:sp>
      <p:sp>
        <p:nvSpPr>
          <p:cNvPr id="9" name="Card 9"/>
          <p:cNvSpPr/>
          <p:nvPr/>
        </p:nvSpPr>
        <p:spPr>
          <a:xfrm>
            <a:off x="566928" y="1847088"/>
            <a:ext cx="5394960" cy="3749039"/>
          </a:xfrm>
          <a:prstGeom prst="roundRect">
            <a:avLst/>
          </a:prstGeom>
          <a:solidFill>
            <a:srgbClr val="111C30"/>
          </a:solidFill>
          <a:ln w="12700" cap="flat" cmpd="sng" algn="ctr">
            <a:solidFill>
              <a:srgbClr val="23405D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Accent 10"/>
          <p:cNvSpPr/>
          <p:nvPr/>
        </p:nvSpPr>
        <p:spPr>
          <a:xfrm>
            <a:off x="566928" y="1847088"/>
            <a:ext cx="5394960" cy="73152"/>
          </a:xfrm>
          <a:prstGeom prst="rect">
            <a:avLst/>
          </a:prstGeom>
          <a:solidFill>
            <a:srgbClr val="35D0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Card Title 11"/>
          <p:cNvSpPr txBox="1"/>
          <p:nvPr/>
        </p:nvSpPr>
        <p:spPr>
          <a:xfrm>
            <a:off x="694944" y="1956816"/>
            <a:ext cx="5138928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850" b="1" dirty="0" smtClean="0">
                <a:solidFill>
                  <a:srgbClr val="F8FAFC"/>
                </a:solidFill>
                <a:latin typeface="Aptos"/>
              </a:rPr>
              <a:t>Dashboard</a:t>
            </a:r>
            <a:endParaRPr lang="en-US" sz="1850"/>
          </a:p>
        </p:txBody>
      </p:sp>
      <p:sp>
        <p:nvSpPr>
          <p:cNvPr id="12" name="Card Body 12"/>
          <p:cNvSpPr txBox="1"/>
          <p:nvPr/>
        </p:nvSpPr>
        <p:spPr>
          <a:xfrm>
            <a:off x="676656" y="2304288"/>
            <a:ext cx="5175504" cy="3218687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Visualizes workflow stage and task progress</a:t>
            </a:r>
            <a:endParaRPr lang="en-US" sz="1180"/>
          </a:p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Tracks active, completed, and failed work</a:t>
            </a:r>
            <a:endParaRPr lang="en-US" sz="1180"/>
          </a:p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Planned for real-time updates and analytics</a:t>
            </a:r>
            <a:endParaRPr lang="en-US" sz="1180"/>
          </a:p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Targets better error visibility and historical insight</a:t>
            </a:r>
            <a:endParaRPr lang="en-US" sz="1180"/>
          </a:p>
        </p:txBody>
      </p:sp>
      <p:sp>
        <p:nvSpPr>
          <p:cNvPr id="13" name="Card 13"/>
          <p:cNvSpPr/>
          <p:nvPr/>
        </p:nvSpPr>
        <p:spPr>
          <a:xfrm>
            <a:off x="6236208" y="1847088"/>
            <a:ext cx="5394960" cy="3749039"/>
          </a:xfrm>
          <a:prstGeom prst="roundRect">
            <a:avLst/>
          </a:prstGeom>
          <a:solidFill>
            <a:srgbClr val="111C30"/>
          </a:solidFill>
          <a:ln w="12700" cap="flat" cmpd="sng" algn="ctr">
            <a:solidFill>
              <a:srgbClr val="23405D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Accent 14"/>
          <p:cNvSpPr/>
          <p:nvPr/>
        </p:nvSpPr>
        <p:spPr>
          <a:xfrm>
            <a:off x="6236208" y="1847088"/>
            <a:ext cx="5394960" cy="73152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Card Title 15"/>
          <p:cNvSpPr txBox="1"/>
          <p:nvPr/>
        </p:nvSpPr>
        <p:spPr>
          <a:xfrm>
            <a:off x="6364224" y="1956816"/>
            <a:ext cx="5138928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850" b="1" dirty="0" smtClean="0">
                <a:solidFill>
                  <a:srgbClr val="F8FAFC"/>
                </a:solidFill>
                <a:latin typeface="Aptos"/>
              </a:rPr>
              <a:t>Environment handling</a:t>
            </a:r>
            <a:endParaRPr lang="en-US" sz="1850"/>
          </a:p>
        </p:txBody>
      </p:sp>
      <p:sp>
        <p:nvSpPr>
          <p:cNvPr id="16" name="Card Body 16"/>
          <p:cNvSpPr txBox="1"/>
          <p:nvPr/>
        </p:nvSpPr>
        <p:spPr>
          <a:xfrm>
            <a:off x="6345936" y="2304288"/>
            <a:ext cx="5175504" cy="3218687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Azure DevOps, Git, and service credentials are required</a:t>
            </a:r>
            <a:endParaRPr lang="en-US" sz="1180"/>
          </a:p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If a value is missing, ask once and persist it</a:t>
            </a:r>
            <a:endParaRPr lang="en-US" sz="1180"/>
          </a:p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Missing env vars must not terminate the workflow</a:t>
            </a:r>
            <a:endParaRPr lang="en-US" sz="1180"/>
          </a:p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Continue automatically after storing configuration</a:t>
            </a:r>
            <a:endParaRPr lang="en-US" sz="1180"/>
          </a:p>
        </p:txBody>
      </p:sp>
      <p:sp>
        <p:nvSpPr>
          <p:cNvPr id="17" name="Ops Alert 17"/>
          <p:cNvSpPr/>
          <p:nvPr/>
        </p:nvSpPr>
        <p:spPr>
          <a:xfrm>
            <a:off x="749808" y="5806440"/>
            <a:ext cx="10863072" cy="402336"/>
          </a:xfrm>
          <a:prstGeom prst="roundRect">
            <a:avLst/>
          </a:prstGeom>
          <a:solidFill>
            <a:srgbClr val="16243B"/>
          </a:solidFill>
          <a:ln w="12700" cap="flat" cmpd="sng" algn="ctr">
            <a:solidFill>
              <a:srgbClr val="F5B942"/>
            </a:solidFill>
            <a:prstDash val="solid"/>
          </a:ln>
        </p:spPr>
        <p:txBody>
          <a:bodyPr/>
          <a:lstStyle/>
          <a:p/>
        </p:txBody>
      </p:sp>
      <p:sp>
        <p:nvSpPr>
          <p:cNvPr id="18" name="Ops Text 18"/>
          <p:cNvSpPr txBox="1"/>
          <p:nvPr/>
        </p:nvSpPr>
        <p:spPr>
          <a:xfrm>
            <a:off x="960120" y="5897880"/>
            <a:ext cx="1042416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ctr"/>
            <a:r>
              <a:rPr lang="en-US" sz="1020" b="1" dirty="0" smtClean="0">
                <a:solidFill>
                  <a:srgbClr val="F8FAFC"/>
                </a:solidFill>
                <a:latin typeface="Aptos"/>
              </a:rPr>
              <a:t>Critical rule: configuration gaps are recoverable events, not workflow-ending failures.</a:t>
            </a:r>
            <a:endParaRPr lang="en-US" sz="102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oadmap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5D0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ection Pill 3"/>
          <p:cNvSpPr/>
          <p:nvPr/>
        </p:nvSpPr>
        <p:spPr>
          <a:xfrm>
            <a:off x="384048" y="384048"/>
            <a:ext cx="1965960" cy="329184"/>
          </a:xfrm>
          <a:prstGeom prst="roundRect">
            <a:avLst/>
          </a:prstGeom>
          <a:solidFill>
            <a:srgbClr val="16243B"/>
          </a:solidFill>
          <a:ln w="12700" cap="flat" cmpd="sng" algn="ctr">
            <a:solidFill>
              <a:srgbClr val="35D0FF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Section Text 4"/>
          <p:cNvSpPr txBox="1"/>
          <p:nvPr/>
        </p:nvSpPr>
        <p:spPr>
          <a:xfrm>
            <a:off x="502920" y="420624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950" b="1" dirty="0" smtClean="0">
                <a:solidFill>
                  <a:srgbClr val="35D0FF"/>
                </a:solidFill>
                <a:latin typeface="Aptos"/>
              </a:rPr>
              <a:t>09 ROADMAP</a:t>
            </a:r>
            <a:endParaRPr lang="en-US" sz="950"/>
          </a:p>
        </p:txBody>
      </p:sp>
      <p:sp>
        <p:nvSpPr>
          <p:cNvPr id="5" name="Title 5"/>
          <p:cNvSpPr txBox="1"/>
          <p:nvPr/>
        </p:nvSpPr>
        <p:spPr>
          <a:xfrm>
            <a:off x="493776" y="868680"/>
            <a:ext cx="7955279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2600" b="1" dirty="0" smtClean="0">
                <a:solidFill>
                  <a:srgbClr val="F8FAFC"/>
                </a:solidFill>
                <a:latin typeface="Aptos"/>
              </a:rPr>
              <a:t>Future Improvements</a:t>
            </a:r>
            <a:endParaRPr lang="en-US" sz="2600"/>
          </a:p>
        </p:txBody>
      </p:sp>
      <p:sp>
        <p:nvSpPr>
          <p:cNvPr id="6" name="Subtitle 6"/>
          <p:cNvSpPr txBox="1"/>
          <p:nvPr/>
        </p:nvSpPr>
        <p:spPr>
          <a:xfrm>
            <a:off x="512064" y="1371600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180" dirty="0" smtClean="0">
                <a:solidFill>
                  <a:srgbClr val="94A3B8"/>
                </a:solidFill>
                <a:latin typeface="Aptos"/>
              </a:rPr>
              <a:t>The documentation outlines a clear path to a more observable, reliable, and intelligent delivery system.</a:t>
            </a:r>
            <a:endParaRPr lang="en-US" sz="1180"/>
          </a:p>
        </p:txBody>
      </p:sp>
      <p:sp>
        <p:nvSpPr>
          <p:cNvPr id="7" name="Footer No 7"/>
          <p:cNvSpPr txBox="1"/>
          <p:nvPr/>
        </p:nvSpPr>
        <p:spPr>
          <a:xfrm>
            <a:off x="10881360" y="640080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r"/>
            <a:r>
              <a:rPr lang="en-US" sz="1000" b="1" dirty="0" smtClean="0">
                <a:solidFill>
                  <a:srgbClr val="94A3B8"/>
                </a:solidFill>
                <a:latin typeface="Aptos"/>
              </a:rPr>
              <a:t>11</a:t>
            </a:r>
            <a:endParaRPr lang="en-US" sz="1000"/>
          </a:p>
        </p:txBody>
      </p:sp>
      <p:sp>
        <p:nvSpPr>
          <p:cNvPr id="8" name="Footer Text 8"/>
          <p:cNvSpPr txBox="1"/>
          <p:nvPr/>
        </p:nvSpPr>
        <p:spPr>
          <a:xfrm>
            <a:off x="457200" y="6400800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000" dirty="0" smtClean="0">
                <a:solidFill>
                  <a:srgbClr val="94A3B8"/>
                </a:solidFill>
                <a:latin typeface="Aptos"/>
              </a:rPr>
              <a:t>Harbor AI Agent</a:t>
            </a:r>
            <a:endParaRPr lang="en-US" sz="1000"/>
          </a:p>
        </p:txBody>
      </p:sp>
      <p:sp>
        <p:nvSpPr>
          <p:cNvPr id="9" name="Card 9"/>
          <p:cNvSpPr/>
          <p:nvPr/>
        </p:nvSpPr>
        <p:spPr>
          <a:xfrm>
            <a:off x="566928" y="1847088"/>
            <a:ext cx="2606040" cy="1828800"/>
          </a:xfrm>
          <a:prstGeom prst="roundRect">
            <a:avLst/>
          </a:prstGeom>
          <a:solidFill>
            <a:srgbClr val="111C30"/>
          </a:solidFill>
          <a:ln w="12700" cap="flat" cmpd="sng" algn="ctr">
            <a:solidFill>
              <a:srgbClr val="23405D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Accent 10"/>
          <p:cNvSpPr/>
          <p:nvPr/>
        </p:nvSpPr>
        <p:spPr>
          <a:xfrm>
            <a:off x="566928" y="1847088"/>
            <a:ext cx="2606040" cy="73152"/>
          </a:xfrm>
          <a:prstGeom prst="rect">
            <a:avLst/>
          </a:prstGeom>
          <a:solidFill>
            <a:srgbClr val="35D0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Card Title 11"/>
          <p:cNvSpPr txBox="1"/>
          <p:nvPr/>
        </p:nvSpPr>
        <p:spPr>
          <a:xfrm>
            <a:off x="694944" y="1956816"/>
            <a:ext cx="2350008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850" b="1" dirty="0" smtClean="0">
                <a:solidFill>
                  <a:srgbClr val="F8FAFC"/>
                </a:solidFill>
                <a:latin typeface="Aptos"/>
              </a:rPr>
              <a:t>Observability</a:t>
            </a:r>
            <a:endParaRPr lang="en-US" sz="1850"/>
          </a:p>
        </p:txBody>
      </p:sp>
      <p:sp>
        <p:nvSpPr>
          <p:cNvPr id="12" name="Card Body 12"/>
          <p:cNvSpPr txBox="1"/>
          <p:nvPr/>
        </p:nvSpPr>
        <p:spPr>
          <a:xfrm>
            <a:off x="676656" y="2304288"/>
            <a:ext cx="2386584" cy="129844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Execution metrics</a:t>
            </a:r>
            <a:endParaRPr lang="en-US" sz="1180"/>
          </a:p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Error trends</a:t>
            </a:r>
            <a:endParaRPr lang="en-US" sz="1180"/>
          </a:p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Resource monitoring</a:t>
            </a:r>
            <a:endParaRPr lang="en-US" sz="1180"/>
          </a:p>
        </p:txBody>
      </p:sp>
      <p:sp>
        <p:nvSpPr>
          <p:cNvPr id="13" name="Card 13"/>
          <p:cNvSpPr/>
          <p:nvPr/>
        </p:nvSpPr>
        <p:spPr>
          <a:xfrm>
            <a:off x="3401568" y="1847088"/>
            <a:ext cx="2606040" cy="1828800"/>
          </a:xfrm>
          <a:prstGeom prst="roundRect">
            <a:avLst/>
          </a:prstGeom>
          <a:solidFill>
            <a:srgbClr val="111C30"/>
          </a:solidFill>
          <a:ln w="12700" cap="flat" cmpd="sng" algn="ctr">
            <a:solidFill>
              <a:srgbClr val="23405D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Accent 14"/>
          <p:cNvSpPr/>
          <p:nvPr/>
        </p:nvSpPr>
        <p:spPr>
          <a:xfrm>
            <a:off x="3401568" y="1847088"/>
            <a:ext cx="260604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Card Title 15"/>
          <p:cNvSpPr txBox="1"/>
          <p:nvPr/>
        </p:nvSpPr>
        <p:spPr>
          <a:xfrm>
            <a:off x="3529584" y="1956816"/>
            <a:ext cx="2350008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850" b="1" dirty="0" smtClean="0">
                <a:solidFill>
                  <a:srgbClr val="F8FAFC"/>
                </a:solidFill>
                <a:latin typeface="Aptos"/>
              </a:rPr>
              <a:t>Reliability</a:t>
            </a:r>
            <a:endParaRPr lang="en-US" sz="1850"/>
          </a:p>
        </p:txBody>
      </p:sp>
      <p:sp>
        <p:nvSpPr>
          <p:cNvPr id="16" name="Card Body 16"/>
          <p:cNvSpPr txBox="1"/>
          <p:nvPr/>
        </p:nvSpPr>
        <p:spPr>
          <a:xfrm>
            <a:off x="3511296" y="2304288"/>
            <a:ext cx="2386584" cy="129844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Retries and rollback</a:t>
            </a:r>
            <a:endParaRPr lang="en-US" sz="1180"/>
          </a:p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Checkpoint recovery</a:t>
            </a:r>
            <a:endParaRPr lang="en-US" sz="1180"/>
          </a:p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Better conflict handling</a:t>
            </a:r>
            <a:endParaRPr lang="en-US" sz="1180"/>
          </a:p>
        </p:txBody>
      </p:sp>
      <p:sp>
        <p:nvSpPr>
          <p:cNvPr id="17" name="Card 17"/>
          <p:cNvSpPr/>
          <p:nvPr/>
        </p:nvSpPr>
        <p:spPr>
          <a:xfrm>
            <a:off x="6236208" y="1847088"/>
            <a:ext cx="2606040" cy="1828800"/>
          </a:xfrm>
          <a:prstGeom prst="roundRect">
            <a:avLst/>
          </a:prstGeom>
          <a:solidFill>
            <a:srgbClr val="111C30"/>
          </a:solidFill>
          <a:ln w="12700" cap="flat" cmpd="sng" algn="ctr">
            <a:solidFill>
              <a:srgbClr val="23405D"/>
            </a:solidFill>
            <a:prstDash val="solid"/>
          </a:ln>
        </p:spPr>
        <p:txBody>
          <a:bodyPr/>
          <a:lstStyle/>
          <a:p/>
        </p:txBody>
      </p:sp>
      <p:sp>
        <p:nvSpPr>
          <p:cNvPr id="18" name="Accent 18"/>
          <p:cNvSpPr/>
          <p:nvPr/>
        </p:nvSpPr>
        <p:spPr>
          <a:xfrm>
            <a:off x="6236208" y="1847088"/>
            <a:ext cx="2606040" cy="73152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Card Title 19"/>
          <p:cNvSpPr txBox="1"/>
          <p:nvPr/>
        </p:nvSpPr>
        <p:spPr>
          <a:xfrm>
            <a:off x="6364224" y="1956816"/>
            <a:ext cx="2350008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850" b="1" dirty="0" smtClean="0">
                <a:solidFill>
                  <a:srgbClr val="F8FAFC"/>
                </a:solidFill>
                <a:latin typeface="Aptos"/>
              </a:rPr>
              <a:t>Testing</a:t>
            </a:r>
            <a:endParaRPr lang="en-US" sz="1850"/>
          </a:p>
        </p:txBody>
      </p:sp>
      <p:sp>
        <p:nvSpPr>
          <p:cNvPr id="20" name="Card Body 20"/>
          <p:cNvSpPr txBox="1"/>
          <p:nvPr/>
        </p:nvSpPr>
        <p:spPr>
          <a:xfrm>
            <a:off x="6345936" y="2304288"/>
            <a:ext cx="2386584" cy="129844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Auto-generated tests</a:t>
            </a:r>
            <a:endParaRPr lang="en-US" sz="1180"/>
          </a:p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Regression coverage</a:t>
            </a:r>
            <a:endParaRPr lang="en-US" sz="1180"/>
          </a:p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Quality gates</a:t>
            </a:r>
            <a:endParaRPr lang="en-US" sz="1180"/>
          </a:p>
        </p:txBody>
      </p:sp>
      <p:sp>
        <p:nvSpPr>
          <p:cNvPr id="21" name="Card 21"/>
          <p:cNvSpPr/>
          <p:nvPr/>
        </p:nvSpPr>
        <p:spPr>
          <a:xfrm>
            <a:off x="9070848" y="1847088"/>
            <a:ext cx="2606040" cy="1828800"/>
          </a:xfrm>
          <a:prstGeom prst="roundRect">
            <a:avLst/>
          </a:prstGeom>
          <a:solidFill>
            <a:srgbClr val="111C30"/>
          </a:solidFill>
          <a:ln w="12700" cap="flat" cmpd="sng" algn="ctr">
            <a:solidFill>
              <a:srgbClr val="23405D"/>
            </a:solidFill>
            <a:prstDash val="solid"/>
          </a:ln>
        </p:spPr>
        <p:txBody>
          <a:bodyPr/>
          <a:lstStyle/>
          <a:p/>
        </p:txBody>
      </p:sp>
      <p:sp>
        <p:nvSpPr>
          <p:cNvPr id="22" name="Accent 22"/>
          <p:cNvSpPr/>
          <p:nvPr/>
        </p:nvSpPr>
        <p:spPr>
          <a:xfrm>
            <a:off x="9070848" y="1847088"/>
            <a:ext cx="260604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Card Title 23"/>
          <p:cNvSpPr txBox="1"/>
          <p:nvPr/>
        </p:nvSpPr>
        <p:spPr>
          <a:xfrm>
            <a:off x="9198864" y="1956816"/>
            <a:ext cx="2350008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850" b="1" dirty="0" smtClean="0">
                <a:solidFill>
                  <a:srgbClr val="F8FAFC"/>
                </a:solidFill>
                <a:latin typeface="Aptos"/>
              </a:rPr>
              <a:t>AI Features</a:t>
            </a:r>
            <a:endParaRPr lang="en-US" sz="1850"/>
          </a:p>
        </p:txBody>
      </p:sp>
      <p:sp>
        <p:nvSpPr>
          <p:cNvPr id="24" name="Card Body 24"/>
          <p:cNvSpPr txBox="1"/>
          <p:nvPr/>
        </p:nvSpPr>
        <p:spPr>
          <a:xfrm>
            <a:off x="9180576" y="2304288"/>
            <a:ext cx="2386584" cy="129844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Task prioritization</a:t>
            </a:r>
            <a:endParaRPr lang="en-US" sz="1180"/>
          </a:p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Risk prediction</a:t>
            </a:r>
            <a:endParaRPr lang="en-US" sz="1180"/>
          </a:p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Code review automation</a:t>
            </a:r>
            <a:endParaRPr lang="en-US" sz="1180"/>
          </a:p>
        </p:txBody>
      </p:sp>
      <p:sp>
        <p:nvSpPr>
          <p:cNvPr id="25" name="Card 25"/>
          <p:cNvSpPr/>
          <p:nvPr/>
        </p:nvSpPr>
        <p:spPr>
          <a:xfrm>
            <a:off x="566928" y="4041648"/>
            <a:ext cx="5486400" cy="1828800"/>
          </a:xfrm>
          <a:prstGeom prst="roundRect">
            <a:avLst/>
          </a:prstGeom>
          <a:solidFill>
            <a:srgbClr val="111C30"/>
          </a:solidFill>
          <a:ln w="12700" cap="flat" cmpd="sng" algn="ctr">
            <a:solidFill>
              <a:srgbClr val="23405D"/>
            </a:solidFill>
            <a:prstDash val="solid"/>
          </a:ln>
        </p:spPr>
        <p:txBody>
          <a:bodyPr/>
          <a:lstStyle/>
          <a:p/>
        </p:txBody>
      </p:sp>
      <p:sp>
        <p:nvSpPr>
          <p:cNvPr id="26" name="Accent 26"/>
          <p:cNvSpPr/>
          <p:nvPr/>
        </p:nvSpPr>
        <p:spPr>
          <a:xfrm>
            <a:off x="566928" y="4041648"/>
            <a:ext cx="5486400" cy="73152"/>
          </a:xfrm>
          <a:prstGeom prst="rect">
            <a:avLst/>
          </a:prstGeom>
          <a:solidFill>
            <a:srgbClr val="35D0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Card Title 27"/>
          <p:cNvSpPr txBox="1"/>
          <p:nvPr/>
        </p:nvSpPr>
        <p:spPr>
          <a:xfrm>
            <a:off x="694944" y="4151376"/>
            <a:ext cx="5230368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850" b="1" dirty="0" smtClean="0">
                <a:solidFill>
                  <a:srgbClr val="F8FAFC"/>
                </a:solidFill>
                <a:latin typeface="Aptos"/>
              </a:rPr>
              <a:t>Developer experience</a:t>
            </a:r>
            <a:endParaRPr lang="en-US" sz="1850"/>
          </a:p>
        </p:txBody>
      </p:sp>
      <p:sp>
        <p:nvSpPr>
          <p:cNvPr id="28" name="Card Body 28"/>
          <p:cNvSpPr txBox="1"/>
          <p:nvPr/>
        </p:nvSpPr>
        <p:spPr>
          <a:xfrm>
            <a:off x="676656" y="4498848"/>
            <a:ext cx="5266944" cy="129844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Detailed execution logs</a:t>
            </a:r>
            <a:endParaRPr lang="en-US" sz="1180"/>
          </a:p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Interactive debugging</a:t>
            </a:r>
            <a:endParaRPr lang="en-US" sz="1180"/>
          </a:p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Auto-generated docs and tutorials</a:t>
            </a:r>
            <a:endParaRPr lang="en-US" sz="1180"/>
          </a:p>
        </p:txBody>
      </p:sp>
      <p:sp>
        <p:nvSpPr>
          <p:cNvPr id="29" name="Card 29"/>
          <p:cNvSpPr/>
          <p:nvPr/>
        </p:nvSpPr>
        <p:spPr>
          <a:xfrm>
            <a:off x="6327648" y="4041648"/>
            <a:ext cx="5303520" cy="1828800"/>
          </a:xfrm>
          <a:prstGeom prst="roundRect">
            <a:avLst/>
          </a:prstGeom>
          <a:solidFill>
            <a:srgbClr val="111C30"/>
          </a:solidFill>
          <a:ln w="12700" cap="flat" cmpd="sng" algn="ctr">
            <a:solidFill>
              <a:srgbClr val="23405D"/>
            </a:solidFill>
            <a:prstDash val="solid"/>
          </a:ln>
        </p:spPr>
        <p:txBody>
          <a:bodyPr/>
          <a:lstStyle/>
          <a:p/>
        </p:txBody>
      </p:sp>
      <p:sp>
        <p:nvSpPr>
          <p:cNvPr id="30" name="Accent 30"/>
          <p:cNvSpPr/>
          <p:nvPr/>
        </p:nvSpPr>
        <p:spPr>
          <a:xfrm>
            <a:off x="6327648" y="4041648"/>
            <a:ext cx="530352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Card Title 31"/>
          <p:cNvSpPr txBox="1"/>
          <p:nvPr/>
        </p:nvSpPr>
        <p:spPr>
          <a:xfrm>
            <a:off x="6455664" y="4151376"/>
            <a:ext cx="5047488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850" b="1" dirty="0" smtClean="0">
                <a:solidFill>
                  <a:srgbClr val="F8FAFC"/>
                </a:solidFill>
                <a:latin typeface="Aptos"/>
              </a:rPr>
              <a:t>Scalability</a:t>
            </a:r>
            <a:endParaRPr lang="en-US" sz="1850"/>
          </a:p>
        </p:txBody>
      </p:sp>
      <p:sp>
        <p:nvSpPr>
          <p:cNvPr id="32" name="Card Body 32"/>
          <p:cNvSpPr txBox="1"/>
          <p:nvPr/>
        </p:nvSpPr>
        <p:spPr>
          <a:xfrm>
            <a:off x="6437376" y="4498848"/>
            <a:ext cx="5084064" cy="129844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Parallel task processing</a:t>
            </a:r>
            <a:endParaRPr lang="en-US" sz="1180"/>
          </a:p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Background jobs</a:t>
            </a:r>
            <a:endParaRPr lang="en-US" sz="1180"/>
          </a:p>
          <a:p>
            <a:pPr algn="l" lvl="0" marL="342900" indent="-228600">
              <a:buChar char="•"/>
            </a:pPr>
            <a:r>
              <a:rPr lang="en-US" sz="1180" dirty="0" smtClean="0">
                <a:solidFill>
                  <a:srgbClr val="CBD5E1"/>
                </a:solidFill>
                <a:latin typeface="Aptos"/>
              </a:rPr>
              <a:t>Coordinated multi-agent support</a:t>
            </a:r>
            <a:endParaRPr lang="en-US" sz="118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Key Takeaways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5D0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ection Pill 3"/>
          <p:cNvSpPr/>
          <p:nvPr/>
        </p:nvSpPr>
        <p:spPr>
          <a:xfrm>
            <a:off x="384048" y="384048"/>
            <a:ext cx="1965960" cy="329184"/>
          </a:xfrm>
          <a:prstGeom prst="roundRect">
            <a:avLst/>
          </a:prstGeom>
          <a:solidFill>
            <a:srgbClr val="16243B"/>
          </a:solidFill>
          <a:ln w="12700" cap="flat" cmpd="sng" algn="ctr">
            <a:solidFill>
              <a:srgbClr val="35D0FF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Section Text 4"/>
          <p:cNvSpPr txBox="1"/>
          <p:nvPr/>
        </p:nvSpPr>
        <p:spPr>
          <a:xfrm>
            <a:off x="502920" y="420624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950" b="1" dirty="0" smtClean="0">
                <a:solidFill>
                  <a:srgbClr val="35D0FF"/>
                </a:solidFill>
                <a:latin typeface="Aptos"/>
              </a:rPr>
              <a:t>10 CLOSING</a:t>
            </a:r>
            <a:endParaRPr lang="en-US" sz="950"/>
          </a:p>
        </p:txBody>
      </p:sp>
      <p:sp>
        <p:nvSpPr>
          <p:cNvPr id="5" name="Title 5"/>
          <p:cNvSpPr txBox="1"/>
          <p:nvPr/>
        </p:nvSpPr>
        <p:spPr>
          <a:xfrm>
            <a:off x="493776" y="868680"/>
            <a:ext cx="7955279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2600" b="1" dirty="0" smtClean="0">
                <a:solidFill>
                  <a:srgbClr val="F8FAFC"/>
                </a:solidFill>
                <a:latin typeface="Aptos"/>
              </a:rPr>
              <a:t>Key Takeaways</a:t>
            </a:r>
            <a:endParaRPr lang="en-US" sz="2600"/>
          </a:p>
        </p:txBody>
      </p:sp>
      <p:sp>
        <p:nvSpPr>
          <p:cNvPr id="6" name="Subtitle 6"/>
          <p:cNvSpPr txBox="1"/>
          <p:nvPr/>
        </p:nvSpPr>
        <p:spPr>
          <a:xfrm>
            <a:off x="512064" y="1371600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180" dirty="0" smtClean="0">
                <a:solidFill>
                  <a:srgbClr val="94A3B8"/>
                </a:solidFill>
                <a:latin typeface="Aptos"/>
              </a:rPr>
              <a:t>A concise summary of what makes the Harbor AI Agent operationally valuable.</a:t>
            </a:r>
            <a:endParaRPr lang="en-US" sz="1180"/>
          </a:p>
        </p:txBody>
      </p:sp>
      <p:sp>
        <p:nvSpPr>
          <p:cNvPr id="7" name="Footer No 7"/>
          <p:cNvSpPr txBox="1"/>
          <p:nvPr/>
        </p:nvSpPr>
        <p:spPr>
          <a:xfrm>
            <a:off x="10881360" y="640080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r"/>
            <a:r>
              <a:rPr lang="en-US" sz="1000" b="1" dirty="0" smtClean="0">
                <a:solidFill>
                  <a:srgbClr val="94A3B8"/>
                </a:solidFill>
                <a:latin typeface="Aptos"/>
              </a:rPr>
              <a:t>12</a:t>
            </a:r>
            <a:endParaRPr lang="en-US" sz="1000"/>
          </a:p>
        </p:txBody>
      </p:sp>
      <p:sp>
        <p:nvSpPr>
          <p:cNvPr id="8" name="Footer Text 8"/>
          <p:cNvSpPr txBox="1"/>
          <p:nvPr/>
        </p:nvSpPr>
        <p:spPr>
          <a:xfrm>
            <a:off x="457200" y="6400800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1000" dirty="0" smtClean="0">
                <a:solidFill>
                  <a:srgbClr val="94A3B8"/>
                </a:solidFill>
                <a:latin typeface="Aptos"/>
              </a:rPr>
              <a:t>Harbor AI Agent</a:t>
            </a:r>
            <a:endParaRPr lang="en-US" sz="1000"/>
          </a:p>
        </p:txBody>
      </p:sp>
      <p:sp>
        <p:nvSpPr>
          <p:cNvPr id="9" name="Takeaways 9"/>
          <p:cNvSpPr/>
          <p:nvPr/>
        </p:nvSpPr>
        <p:spPr>
          <a:xfrm>
            <a:off x="694944" y="1847088"/>
            <a:ext cx="10972800" cy="4297680"/>
          </a:xfrm>
          <a:prstGeom prst="roundRect">
            <a:avLst/>
          </a:prstGeom>
          <a:solidFill>
            <a:srgbClr val="111C30"/>
          </a:solidFill>
          <a:ln w="12700" cap="flat" cmpd="sng" algn="ctr">
            <a:solidFill>
              <a:srgbClr val="23405D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Takeaway Bullets 10"/>
          <p:cNvSpPr txBox="1"/>
          <p:nvPr/>
        </p:nvSpPr>
        <p:spPr>
          <a:xfrm>
            <a:off x="1005840" y="2240280"/>
            <a:ext cx="10241280" cy="292608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 lvl="0" marL="342900" indent="-228600">
              <a:buChar char="•"/>
            </a:pPr>
            <a:r>
              <a:rPr lang="en-US" sz="1500" dirty="0" smtClean="0">
                <a:solidFill>
                  <a:srgbClr val="F8FAFC"/>
                </a:solidFill>
                <a:latin typeface="Aptos"/>
              </a:rPr>
              <a:t>The Harbor AI Agent is designed to own the development loop from active ticket to validated output.</a:t>
            </a:r>
            <a:endParaRPr lang="en-US" sz="1500"/>
          </a:p>
          <a:p>
            <a:pPr algn="l" lvl="0" marL="342900" indent="-228600">
              <a:buChar char="•"/>
            </a:pPr>
            <a:r>
              <a:rPr lang="en-US" sz="1500" dirty="0" smtClean="0">
                <a:solidFill>
                  <a:srgbClr val="F8FAFC"/>
                </a:solidFill>
                <a:latin typeface="Aptos"/>
              </a:rPr>
              <a:t>Its microservices-aware architecture keeps implementation aligned with service boundaries and shared models.</a:t>
            </a:r>
            <a:endParaRPr lang="en-US" sz="1500"/>
          </a:p>
          <a:p>
            <a:pPr algn="l" lvl="0" marL="342900" indent="-228600">
              <a:buChar char="•"/>
            </a:pPr>
            <a:r>
              <a:rPr lang="en-US" sz="1500" dirty="0" smtClean="0">
                <a:solidFill>
                  <a:srgbClr val="F8FAFC"/>
                </a:solidFill>
                <a:latin typeface="Aptos"/>
              </a:rPr>
              <a:t>The harborSharedModels workflow is intentionally different because it behaves like a shared library release.</a:t>
            </a:r>
            <a:endParaRPr lang="en-US" sz="1500"/>
          </a:p>
          <a:p>
            <a:pPr algn="l" lvl="0" marL="342900" indent="-228600">
              <a:buChar char="•"/>
            </a:pPr>
            <a:r>
              <a:rPr lang="en-US" sz="1500" dirty="0" smtClean="0">
                <a:solidFill>
                  <a:srgbClr val="F8FAFC"/>
                </a:solidFill>
                <a:latin typeface="Aptos"/>
              </a:rPr>
              <a:t>Strong Git, dependency, and ticket-closure rules make delivery repeatable and auditable.</a:t>
            </a:r>
            <a:endParaRPr lang="en-US" sz="1500"/>
          </a:p>
          <a:p>
            <a:pPr algn="l" lvl="0" marL="342900" indent="-228600">
              <a:buChar char="•"/>
            </a:pPr>
            <a:r>
              <a:rPr lang="en-US" sz="1500" dirty="0" smtClean="0">
                <a:solidFill>
                  <a:srgbClr val="F8FAFC"/>
                </a:solidFill>
                <a:latin typeface="Aptos"/>
              </a:rPr>
              <a:t>The roadmap points toward better observability, resilience, testing automation, and multi-agent scale.</a:t>
            </a:r>
            <a:endParaRPr lang="en-US" sz="1500"/>
          </a:p>
        </p:txBody>
      </p:sp>
      <p:sp>
        <p:nvSpPr>
          <p:cNvPr id="11" name="Source 11"/>
          <p:cNvSpPr txBox="1"/>
          <p:nvPr/>
        </p:nvSpPr>
        <p:spPr>
          <a:xfrm>
            <a:off x="1005840" y="553212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l"/>
            <a:r>
              <a:rPr lang="en-US" sz="980" dirty="0" smtClean="0">
                <a:solidFill>
                  <a:srgbClr val="94A3B8"/>
                </a:solidFill>
                <a:latin typeface="Aptos"/>
              </a:rPr>
              <a:t>Generated from HARBOR_AGENT_DOCUMENTATION.md</a:t>
            </a:r>
            <a:endParaRPr lang="en-US" sz="980"/>
          </a:p>
        </p:txBody>
      </p:sp>
      <p:sp>
        <p:nvSpPr>
          <p:cNvPr id="12" name="Thank You 12"/>
          <p:cNvSpPr txBox="1"/>
          <p:nvPr/>
        </p:nvSpPr>
        <p:spPr>
          <a:xfrm>
            <a:off x="9326880" y="548640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54864" bIns="54864" anchor="t"/>
          <a:lstStyle/>
          <a:p>
            <a:pPr algn="r"/>
            <a:r>
              <a:rPr lang="en-US" sz="1800" b="1" dirty="0" smtClean="0">
                <a:solidFill>
                  <a:srgbClr val="35D0FF"/>
                </a:solidFill>
                <a:latin typeface="Aptos"/>
              </a:rPr>
              <a:t>Thank you</a:t>
            </a:r>
            <a:endParaRPr lang="en-US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rbor Theme">
  <a:themeElements>
    <a:clrScheme name="Harbor">
      <a:dk1>
        <a:srgbClr val="000000"/>
      </a:dk1>
      <a:lt1>
        <a:srgbClr val="FFFFFF"/>
      </a:lt1>
      <a:dk2>
        <a:srgbClr val="08111F"/>
      </a:dk2>
      <a:lt2>
        <a:srgbClr val="E2E8F0"/>
      </a:lt2>
      <a:accent1>
        <a:srgbClr val="35D0FF"/>
      </a:accent1>
      <a:accent2>
        <a:srgbClr val="14B8A6"/>
      </a:accent2>
      <a:accent3>
        <a:srgbClr val="F5B942"/>
      </a:accent3>
      <a:accent4>
        <a:srgbClr val="22C55E"/>
      </a:accent4>
      <a:accent5>
        <a:srgbClr val="F97316"/>
      </a:accent5>
      <a:accent6>
        <a:srgbClr val="94A3B8"/>
      </a:accent6>
      <a:hlink>
        <a:srgbClr val="60A5FA"/>
      </a:hlink>
      <a:folHlink>
        <a:srgbClr val="C084FC"/>
      </a:folHlink>
    </a:clrScheme>
    <a:fontScheme name="Harbor Fonts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Harbor Formats">
      <a:fillStyleLst>
        <a:solidFill>
          <a:schemeClr val="phClr"/>
        </a:solidFill>
        <a:solidFill>
          <a:schemeClr val="accent1"/>
        </a:solidFill>
        <a:solidFill>
          <a:schemeClr val="accent2"/>
        </a:solidFill>
      </a:fillStyleLst>
      <a:lnStyleLst>
        <a:ln w="9525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bg1"/>
        </a:solidFill>
        <a:solidFill>
          <a:schemeClr val="bg2"/>
        </a:solidFill>
        <a:solidFill>
          <a:schemeClr val="lt2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Augment Agent</Application>
  <PresentationFormat>On-screen Show (16:9)</PresentationFormat>
  <Slides>12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12</vt:i4>
      </vt:variant>
    </vt:vector>
  </HeadingPairs>
  <TitlesOfParts>
    <vt:vector size="12" baseType="lpstr">
      <vt:lpstr>Harbor AI Agent Presentation</vt:lpstr>
      <vt:lpstr>Executive Summary</vt:lpstr>
      <vt:lpstr>Architecture</vt:lpstr>
      <vt:lpstr>Service Landscape</vt:lpstr>
      <vt:lpstr>Workflow</vt:lpstr>
      <vt:lpstr>Shared Models</vt:lpstr>
      <vt:lpstr>Git Strategy</vt:lpstr>
      <vt:lpstr>Dependencies</vt:lpstr>
      <vt:lpstr>Ticket Handling</vt:lpstr>
      <vt:lpstr>Dashboard and Environment</vt:lpstr>
      <vt:lpstr>Roadmap</vt:lpstr>
      <vt:lpstr>Key Takeaways</vt:lpstr>
    </vt:vector>
  </TitlesOfParts>
  <Company>Harbor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Harbor AI Agent Presentation</dc:title>
  <dc:creator>Augment Agent</dc:creator>
  <cp:lastModifiedBy>Augment Agent</cp:lastModifiedBy>
  <dcterms:created xsi:type="dcterms:W3CDTF">2026-03-10T04:53:34Z</dcterms:created>
  <dcterms:modified xsi:type="dcterms:W3CDTF">2026-03-10T04:53:34Z</dcterms:modified>
</cp:coreProperties>
</file>